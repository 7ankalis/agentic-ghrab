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502920" cy="502920"/>
          </a:xfrm>
          <a:prstGeom prst="roundRect">
            <a:avLst>
              <a:gd name="adj" fmla="val 26000"/>
            </a:avLst>
          </a:prstGeom>
          <a:solidFill>
            <a:srgbClr val="0B5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786384" y="705002"/>
            <a:ext cx="301752" cy="261518"/>
          </a:xfrm>
          <a:prstGeom prst="triangle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755294"/>
            <a:ext cx="45262" cy="45262"/>
          </a:xfrm>
          <a:prstGeom prst="ellipse">
            <a:avLst/>
          </a:prstGeom>
          <a:solidFill>
            <a:srgbClr val="0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6035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9EFEC"/>
                </a:solidFill>
                <a:latin typeface="Libre Baskerville"/>
              </a:rPr>
              <a:t>Ghrab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40">
                <a:solidFill>
                  <a:srgbClr val="9FB0A9"/>
                </a:solidFill>
                <a:latin typeface="JetBrains Mono"/>
              </a:rPr>
              <a:t>VOC — VULNERABILITY OPERATIONS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E9EFEC"/>
                </a:solidFill>
                <a:latin typeface="Libre Baskerville"/>
              </a:rPr>
              <a:t>AI agents that see the </a:t>
            </a:r>
            <a:r>
              <a:rPr sz="4600" b="1" i="0">
                <a:solidFill>
                  <a:srgbClr val="7FD0AD"/>
                </a:solidFill>
                <a:latin typeface="Libre Baskerville"/>
              </a:rPr>
              <a:t>attack before it happens.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9FB0A9"/>
                </a:solidFill>
                <a:latin typeface="Lato"/>
              </a:rPr>
              <a:t>A team of specialized AI agents reads every finding, every asset, every trust relationship — and finds the routes an attacker would actually take to your most critical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17720"/>
            <a:ext cx="2624328" cy="118872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77316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Smarter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25780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finds what scanners can't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4617720"/>
            <a:ext cx="2624328" cy="118872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77316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Smarter 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525780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the one fix that matters most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617720"/>
            <a:ext cx="2624328" cy="118872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477316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Quicker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525780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instant, ranked action plans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4617720"/>
            <a:ext cx="2624328" cy="118872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4773168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Crown-jewel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525780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stops attacks before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SMARTER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Agents find the routes to your crown jewels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FB0A9"/>
                </a:solidFill>
                <a:latin typeface="Lato"/>
              </a:rPr>
              <a:t>A scanner reports each weakness alone. Agents chain them the way an attacker would — turning several "minor" findings into the one route that reaches your most critical system.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4114800"/>
            <a:ext cx="2011680" cy="0"/>
          </a:xfrm>
          <a:prstGeom prst="line">
            <a:avLst/>
          </a:prstGeom>
          <a:ln w="33020">
            <a:solidFill>
              <a:srgbClr val="55A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4114800"/>
            <a:ext cx="2011680" cy="0"/>
          </a:xfrm>
          <a:prstGeom prst="line">
            <a:avLst/>
          </a:prstGeom>
          <a:ln w="33020">
            <a:solidFill>
              <a:srgbClr val="55A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4114800"/>
            <a:ext cx="2011680" cy="0"/>
          </a:xfrm>
          <a:prstGeom prst="line">
            <a:avLst/>
          </a:prstGeom>
          <a:ln w="33020">
            <a:solidFill>
              <a:srgbClr val="55A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3760" y="4114800"/>
            <a:ext cx="2286000" cy="0"/>
          </a:xfrm>
          <a:prstGeom prst="line">
            <a:avLst/>
          </a:prstGeom>
          <a:ln w="33020">
            <a:solidFill>
              <a:srgbClr val="55A1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1520" y="3657600"/>
            <a:ext cx="914400" cy="914400"/>
          </a:xfrm>
          <a:prstGeom prst="ellipse">
            <a:avLst/>
          </a:prstGeom>
          <a:solidFill>
            <a:srgbClr val="131E1A"/>
          </a:solidFill>
          <a:ln w="27940">
            <a:solidFill>
              <a:srgbClr val="6F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700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INTERNET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3657600"/>
            <a:ext cx="914400" cy="914400"/>
          </a:xfrm>
          <a:prstGeom prst="ellipse">
            <a:avLst/>
          </a:prstGeom>
          <a:solidFill>
            <a:srgbClr val="131E1A"/>
          </a:solidFill>
          <a:ln w="27940">
            <a:solidFill>
              <a:srgbClr val="E8B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4700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EDGE APP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3657600"/>
            <a:ext cx="914400" cy="914400"/>
          </a:xfrm>
          <a:prstGeom prst="ellipse">
            <a:avLst/>
          </a:prstGeom>
          <a:solidFill>
            <a:srgbClr val="131E1A"/>
          </a:solidFill>
          <a:ln w="27940">
            <a:solidFill>
              <a:srgbClr val="E8B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700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CREDENTIAL</a:t>
            </a:r>
          </a:p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THEFT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57600"/>
            <a:ext cx="914400" cy="914400"/>
          </a:xfrm>
          <a:prstGeom prst="ellipse">
            <a:avLst/>
          </a:prstGeom>
          <a:solidFill>
            <a:srgbClr val="131E1A"/>
          </a:solidFill>
          <a:ln w="27940">
            <a:solidFill>
              <a:srgbClr val="F78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700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LATERAL</a:t>
            </a:r>
          </a:p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PIVOT</a:t>
            </a:r>
          </a:p>
        </p:txBody>
      </p:sp>
      <p:sp>
        <p:nvSpPr>
          <p:cNvPr id="19" name="Oval 18"/>
          <p:cNvSpPr/>
          <p:nvPr/>
        </p:nvSpPr>
        <p:spPr>
          <a:xfrm>
            <a:off x="8979408" y="3584448"/>
            <a:ext cx="1060704" cy="1060704"/>
          </a:xfrm>
          <a:prstGeom prst="ellipse">
            <a:avLst/>
          </a:prstGeom>
          <a:solidFill>
            <a:srgbClr val="14241F"/>
          </a:solidFill>
          <a:ln w="27940">
            <a:solidFill>
              <a:srgbClr val="F0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700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9FB0A9"/>
                </a:solidFill>
                <a:latin typeface="JetBrains Mono"/>
              </a:rPr>
              <a:t>CROWN JEWEL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23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40">
                <a:solidFill>
                  <a:srgbClr val="6C7D76"/>
                </a:solidFill>
                <a:latin typeface="JetBrains Mono"/>
              </a:rPr>
              <a:t>AN AGENT-DISCOVERED ATTACK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3502152" cy="114300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Libre Baskerville"/>
              </a:rPr>
              <a:t>Sees multi-hop chains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3212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Connects findings across machines that look unrelated in isolation.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5074920"/>
            <a:ext cx="3502152" cy="114300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52120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Libre Baskerville"/>
              </a:rPr>
              <a:t>Flags toxic combinations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53212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Catches finding pairs that are only dangerous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4" y="5074920"/>
            <a:ext cx="3502152" cy="114300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521208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Libre Baskerville"/>
              </a:rPr>
              <a:t>Ranks by blast radius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5532120"/>
            <a:ext cx="3136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FB0A9"/>
                </a:solidFill>
                <a:latin typeface="Lato"/>
              </a:rPr>
              <a:t>Surfaces the paths that reach the systems that matter most.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SMARTER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One fix. Many attack paths severed.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FB0A9"/>
                </a:solidFill>
                <a:latin typeface="Lato"/>
              </a:rPr>
              <a:t>Instead of a flat list of thousands of fixes, agents identify the single choke point that collapses the most attack routes at once — the highest-leverage action your team can take.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3017520"/>
            <a:ext cx="2743200" cy="1005840"/>
          </a:xfrm>
          <a:prstGeom prst="line">
            <a:avLst/>
          </a:prstGeom>
          <a:ln w="20320">
            <a:solidFill>
              <a:srgbClr val="2A3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08960" y="4023360"/>
            <a:ext cx="2011680" cy="0"/>
          </a:xfrm>
          <a:prstGeom prst="line">
            <a:avLst/>
          </a:prstGeom>
          <a:ln w="20320">
            <a:solidFill>
              <a:srgbClr val="2A3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377440" y="4023360"/>
            <a:ext cx="2743200" cy="1005840"/>
          </a:xfrm>
          <a:prstGeom prst="line">
            <a:avLst/>
          </a:prstGeom>
          <a:ln w="20320">
            <a:solidFill>
              <a:srgbClr val="2A3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120640" y="3108960"/>
            <a:ext cx="3474720" cy="914400"/>
          </a:xfrm>
          <a:prstGeom prst="line">
            <a:avLst/>
          </a:prstGeom>
          <a:ln w="17780">
            <a:solidFill>
              <a:srgbClr val="F055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4023360"/>
            <a:ext cx="3474720" cy="0"/>
          </a:xfrm>
          <a:prstGeom prst="line">
            <a:avLst/>
          </a:prstGeom>
          <a:ln w="17780">
            <a:solidFill>
              <a:srgbClr val="F055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023360"/>
            <a:ext cx="3474720" cy="914400"/>
          </a:xfrm>
          <a:prstGeom prst="line">
            <a:avLst/>
          </a:prstGeom>
          <a:ln w="17780">
            <a:solidFill>
              <a:srgbClr val="F055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084832" y="2724912"/>
            <a:ext cx="585216" cy="585216"/>
          </a:xfrm>
          <a:prstGeom prst="ellipse">
            <a:avLst/>
          </a:prstGeom>
          <a:solidFill>
            <a:srgbClr val="131E1A"/>
          </a:solidFill>
          <a:ln w="20320">
            <a:solidFill>
              <a:srgbClr val="6F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16352" y="3730752"/>
            <a:ext cx="585216" cy="585216"/>
          </a:xfrm>
          <a:prstGeom prst="ellipse">
            <a:avLst/>
          </a:prstGeom>
          <a:solidFill>
            <a:srgbClr val="131E1A"/>
          </a:solidFill>
          <a:ln w="20320">
            <a:solidFill>
              <a:srgbClr val="6F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84832" y="4736592"/>
            <a:ext cx="585216" cy="585216"/>
          </a:xfrm>
          <a:prstGeom prst="ellipse">
            <a:avLst/>
          </a:prstGeom>
          <a:solidFill>
            <a:srgbClr val="131E1A"/>
          </a:solidFill>
          <a:ln w="20320">
            <a:solidFill>
              <a:srgbClr val="6F9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3520440"/>
            <a:ext cx="1005840" cy="1005840"/>
          </a:xfrm>
          <a:prstGeom prst="ellipse">
            <a:avLst/>
          </a:prstGeom>
          <a:solidFill>
            <a:srgbClr val="14241F"/>
          </a:solidFill>
          <a:ln w="33020">
            <a:solidFill>
              <a:srgbClr val="7FD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6634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60">
                <a:solidFill>
                  <a:srgbClr val="7FD0AD"/>
                </a:solidFill>
                <a:latin typeface="JetBrains Mono"/>
              </a:rPr>
              <a:t>THE ONE FIX</a:t>
            </a:r>
          </a:p>
        </p:txBody>
      </p:sp>
      <p:sp>
        <p:nvSpPr>
          <p:cNvPr id="18" name="Oval 17"/>
          <p:cNvSpPr/>
          <p:nvPr/>
        </p:nvSpPr>
        <p:spPr>
          <a:xfrm>
            <a:off x="8339328" y="2852928"/>
            <a:ext cx="512064" cy="512064"/>
          </a:xfrm>
          <a:prstGeom prst="ellipse">
            <a:avLst/>
          </a:prstGeom>
          <a:solidFill>
            <a:srgbClr val="14241F"/>
          </a:solidFill>
          <a:ln w="22860">
            <a:solidFill>
              <a:srgbClr val="F0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39328" y="3767328"/>
            <a:ext cx="512064" cy="512064"/>
          </a:xfrm>
          <a:prstGeom prst="ellipse">
            <a:avLst/>
          </a:prstGeom>
          <a:solidFill>
            <a:srgbClr val="14241F"/>
          </a:solidFill>
          <a:ln w="22860">
            <a:solidFill>
              <a:srgbClr val="F0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9328" y="4681728"/>
            <a:ext cx="512064" cy="512064"/>
          </a:xfrm>
          <a:prstGeom prst="ellipse">
            <a:avLst/>
          </a:prstGeom>
          <a:solidFill>
            <a:srgbClr val="14241F"/>
          </a:solidFill>
          <a:ln w="22860">
            <a:solidFill>
              <a:srgbClr val="F0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5349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C7D76"/>
                </a:solidFill>
                <a:latin typeface="JetBrains Mono"/>
              </a:rPr>
              <a:t>crown-jewel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406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C7D76"/>
                </a:solidFill>
                <a:latin typeface="JetBrains Mono"/>
              </a:rPr>
              <a:t>findings feeding 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2356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D0AD"/>
                </a:solidFill>
                <a:latin typeface="Lato"/>
              </a:rPr>
              <a:t>Ordered by leverage  —  </a:t>
            </a:r>
            <a:r>
              <a:rPr sz="1150" b="0" i="0">
                <a:solidFill>
                  <a:srgbClr val="9FB0A9"/>
                </a:solidFill>
                <a:latin typeface="Lato"/>
              </a:rPr>
              <a:t>Fixes ranked by how much risk each one removes — not alphabetically, not by CVSS alone.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623560"/>
            <a:ext cx="5303520" cy="685800"/>
          </a:xfrm>
          <a:prstGeom prst="roundRect">
            <a:avLst>
              <a:gd name="adj" fmla="val 10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62356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D0AD"/>
                </a:solidFill>
                <a:latin typeface="Lato"/>
              </a:rPr>
              <a:t>Effort-aware  —  </a:t>
            </a:r>
            <a:r>
              <a:rPr sz="1150" b="0" i="0">
                <a:solidFill>
                  <a:srgbClr val="9FB0A9"/>
                </a:solidFill>
                <a:latin typeface="Lato"/>
              </a:rPr>
              <a:t>Surfaces the fix your team can realistically ship this sprint, not a 400-item backlog.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QUICKER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Tells your team exactly what to do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FB0A9"/>
                </a:solidFill>
                <a:latin typeface="Lato"/>
              </a:rPr>
              <a:t>Agents turn a wall of data into a plain-language plan in minutes, not days — reprioritized beyond raw severity, mapped to compliance impact, and ready to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5330952" cy="3566160"/>
          </a:xfrm>
          <a:prstGeom prst="roundRect">
            <a:avLst>
              <a:gd name="adj" fmla="val 6000"/>
            </a:avLst>
          </a:prstGeom>
          <a:solidFill>
            <a:srgbClr val="14241F"/>
          </a:solidFill>
          <a:ln w="17780">
            <a:solidFill>
              <a:srgbClr val="55A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80">
                <a:solidFill>
                  <a:srgbClr val="7FD0AD"/>
                </a:solidFill>
                <a:latin typeface="JetBrains Mono"/>
              </a:rPr>
              <a:t>FOCUS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FD0AD"/>
                </a:solidFill>
                <a:latin typeface="Lat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9EFEC"/>
                </a:solidFill>
                <a:latin typeface="Lato"/>
              </a:rPr>
              <a:t>The ranked paths that reach crown-jewel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04488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FD0AD"/>
                </a:solidFill>
                <a:latin typeface="Lat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0448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9EFEC"/>
                </a:solidFill>
                <a:latin typeface="Lato"/>
              </a:rPr>
              <a:t>The single fix that severs the most attack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62856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FD0AD"/>
                </a:solidFill>
                <a:latin typeface="La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6285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9EFEC"/>
                </a:solidFill>
                <a:latin typeface="Lato"/>
              </a:rPr>
              <a:t>Findings that are dangerous only in combination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21224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FD0AD"/>
                </a:solidFill>
                <a:latin typeface="Lat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2122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9EFEC"/>
                </a:solidFill>
                <a:latin typeface="Lato"/>
              </a:rPr>
              <a:t>What the grounded AI analyst flags in plain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14600"/>
            <a:ext cx="5330952" cy="3566160"/>
          </a:xfrm>
          <a:prstGeom prst="roundRect">
            <a:avLst>
              <a:gd name="adj" fmla="val 6000"/>
            </a:avLst>
          </a:prstGeom>
          <a:solidFill>
            <a:srgbClr val="131E1A"/>
          </a:solidFill>
          <a:ln w="1524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80">
                <a:solidFill>
                  <a:srgbClr val="F0553F"/>
                </a:solidFill>
                <a:latin typeface="JetBrains Mono"/>
              </a:rPr>
              <a:t>STOP DOING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553F"/>
                </a:solidFill>
                <a:latin typeface="Lato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4612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FB0A9"/>
                </a:solidFill>
                <a:latin typeface="Lato"/>
              </a:rPr>
              <a:t>Triaging by CVSS score alone, machine by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04488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553F"/>
                </a:solidFill>
                <a:latin typeface="Lato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0448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FB0A9"/>
                </a:solidFill>
                <a:latin typeface="Lato"/>
              </a:rPr>
              <a:t>Reviewing thousands of findings one row at a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62856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553F"/>
                </a:solidFill>
                <a:latin typeface="Lato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56285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FB0A9"/>
                </a:solidFill>
                <a:latin typeface="Lato"/>
              </a:rPr>
              <a:t>Waiting for the next quarterly manual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21224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553F"/>
                </a:solidFill>
                <a:latin typeface="Lato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22122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FB0A9"/>
                </a:solidFill>
                <a:latin typeface="Lato"/>
              </a:rPr>
              <a:t>Fixing everything instead of the highest-leverage 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THE AGENT TEAM BEHIND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Seven specialists, each doing one job well.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40640" cy="1371600"/>
          </a:xfrm>
          <a:prstGeom prst="rect">
            <a:avLst/>
          </a:prstGeom>
          <a:solidFill>
            <a:srgbClr val="7FD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78024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Independently detects attack paths to crown jewels, hop by hop.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2331720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4700" y="2331720"/>
            <a:ext cx="40640" cy="1371600"/>
          </a:xfrm>
          <a:prstGeom prst="rect">
            <a:avLst/>
          </a:prstGeom>
          <a:solidFill>
            <a:srgbClr val="6F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7580" y="2478024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2834640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Validates and ranks chains; hunts toxic combinations.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31720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331720"/>
            <a:ext cx="40640" cy="1371600"/>
          </a:xfrm>
          <a:prstGeom prst="rect">
            <a:avLst/>
          </a:prstGeom>
          <a:solidFill>
            <a:srgbClr val="4FA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478024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Reprioritizes risk beyond raw CVSS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0" y="2331720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0" y="2331720"/>
            <a:ext cx="40640" cy="1371600"/>
          </a:xfrm>
          <a:prstGeom prst="rect">
            <a:avLst/>
          </a:prstGeom>
          <a:solidFill>
            <a:srgbClr val="E8B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5380" y="2478024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2834640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Maps findings and paths to regulatory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67912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867912"/>
            <a:ext cx="40640" cy="13716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14216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70832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Finds the single fix that severs the most paths.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4700" y="3867912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4700" y="3867912"/>
            <a:ext cx="40640" cy="1371600"/>
          </a:xfrm>
          <a:prstGeom prst="rect">
            <a:avLst/>
          </a:prstGeom>
          <a:solidFill>
            <a:srgbClr val="F7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7580" y="4014216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7580" y="4370832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Writes one consistent executive summary.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867912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867912"/>
            <a:ext cx="40640" cy="1371600"/>
          </a:xfrm>
          <a:prstGeom prst="rect">
            <a:avLst/>
          </a:prstGeom>
          <a:solidFill>
            <a:srgbClr val="C9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014216"/>
            <a:ext cx="216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9EFEC"/>
                </a:solidFill>
                <a:latin typeface="Libre Baskerville"/>
              </a:rPr>
              <a:t>Analyst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370832"/>
            <a:ext cx="21671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Answers questions instantly, citing real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500" y="3867912"/>
            <a:ext cx="2487168" cy="1371600"/>
          </a:xfrm>
          <a:prstGeom prst="roundRect">
            <a:avLst>
              <a:gd name="adj" fmla="val 9000"/>
            </a:avLst>
          </a:prstGeom>
          <a:solidFill>
            <a:srgbClr val="14241F"/>
          </a:solidFill>
          <a:ln w="16510">
            <a:solidFill>
              <a:srgbClr val="55A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7092" y="3995928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7FD0AD"/>
                </a:solidFill>
                <a:latin typeface="Libre Baskerville"/>
              </a:rPr>
              <a:t>Working as a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7092" y="4416552"/>
            <a:ext cx="21671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FB0A9"/>
                </a:solidFill>
                <a:latin typeface="Lato"/>
              </a:rPr>
              <a:t>Each hands verified work to the next — like an analyst team, not a chatbot.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WHY YOU CAN TRUST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Every AI claim is checked against reality before anyone sees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3502152" cy="201168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14241F"/>
          </a:solidFill>
          <a:ln w="22860">
            <a:solidFill>
              <a:srgbClr val="7FD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063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E9EFEC"/>
                </a:solidFill>
                <a:latin typeface="Libre Baskerville"/>
              </a:rPr>
              <a:t>Ground truth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5204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Findings are mapped into a verified map of your systems before any AI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94560"/>
            <a:ext cx="3502152" cy="201168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2331720"/>
            <a:ext cx="548640" cy="548640"/>
          </a:xfrm>
          <a:prstGeom prst="ellipse">
            <a:avLst/>
          </a:prstGeom>
          <a:solidFill>
            <a:srgbClr val="14241F"/>
          </a:solidFill>
          <a:ln w="22860">
            <a:solidFill>
              <a:srgbClr val="7FD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468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63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E9EFEC"/>
                </a:solidFill>
                <a:latin typeface="Libre Baskerville"/>
              </a:rPr>
              <a:t>Every claim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5204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Paths, hosts, and finding IDs are checked; anything unverifiable is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194560"/>
            <a:ext cx="3502152" cy="201168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1D2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4" y="2331720"/>
            <a:ext cx="548640" cy="548640"/>
          </a:xfrm>
          <a:prstGeom prst="ellipse">
            <a:avLst/>
          </a:prstGeom>
          <a:solidFill>
            <a:srgbClr val="14241F"/>
          </a:solidFill>
          <a:ln w="22860">
            <a:solidFill>
              <a:srgbClr val="7FD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468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7FD0AD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E9EFEC"/>
                </a:solidFill>
                <a:latin typeface="Libre Baskerville"/>
              </a:rPr>
              <a:t>Scored, not asserted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204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Accuracy is measured against a held-out set of known attack paths — openly.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10817352" cy="685800"/>
          </a:xfrm>
          <a:prstGeom prst="roundRect">
            <a:avLst>
              <a:gd name="adj" fmla="val 10000"/>
            </a:avLst>
          </a:prstGeom>
          <a:solidFill>
            <a:srgbClr val="131E1A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FD0AD"/>
                </a:solidFill>
                <a:latin typeface="Libre Baskerville"/>
              </a:rPr>
              <a:t>Autonomy where it's safe. </a:t>
            </a:r>
            <a:r>
              <a:rPr sz="1400" b="0" i="0">
                <a:solidFill>
                  <a:srgbClr val="9FB0A9"/>
                </a:solidFill>
                <a:latin typeface="Libre Baskerville"/>
              </a:rPr>
              <a:t>Human judgment where it matters — always.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spc="220">
                <a:solidFill>
                  <a:srgbClr val="55A185"/>
                </a:solidFill>
                <a:latin typeface="JetBrains Mono"/>
              </a:rPr>
              <a:t>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E9EFEC"/>
                </a:solidFill>
                <a:latin typeface="Libre Baskerville"/>
              </a:rPr>
              <a:t>What it takes to run this for every team,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FB0A9"/>
                </a:solidFill>
                <a:latin typeface="Lato"/>
              </a:rPr>
              <a:t>This runs today as a working prototype. To operate it safely and continuously across the organization, we need five standard building blocks — nothing exotic.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048256" cy="2514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2048256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FD0AD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E9EFEC"/>
                </a:solidFill>
                <a:latin typeface="Libre Baskerville"/>
              </a:rPr>
              <a:t>Governed AI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20440"/>
            <a:ext cx="1719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A single controlled gateway to the AI providers, with a spending cap per team — full visibility, no surprises.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423160"/>
            <a:ext cx="2048256" cy="2514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2423160"/>
            <a:ext cx="2048256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60604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FD0AD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80360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E9EFEC"/>
                </a:solidFill>
                <a:latin typeface="Libre Baskerville"/>
              </a:rPr>
              <a:t>A real data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520440"/>
            <a:ext cx="1719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A production database, queue, and secure storage — so results are durable, fast, and always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423160"/>
            <a:ext cx="2048256" cy="2514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2423160"/>
            <a:ext cx="2048256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260604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FD0AD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880360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E9EFEC"/>
                </a:solidFill>
                <a:latin typeface="Libre Baskerville"/>
              </a:rPr>
              <a:t>Background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520440"/>
            <a:ext cx="1719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Analysis runs as a managed job, not a live request — so many teams can run it at once without slowdowns.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4616" y="2423160"/>
            <a:ext cx="2048256" cy="2514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14616" y="2423160"/>
            <a:ext cx="2048256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260604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FD0AD"/>
                </a:solidFill>
                <a:latin typeface="JetBrain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880360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E9EFEC"/>
                </a:solidFill>
                <a:latin typeface="Libre Baskerville"/>
              </a:rPr>
              <a:t>Company sign-in &amp;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3520440"/>
            <a:ext cx="1719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Single sign-on, role-based access, and a full audit trail of who saw and did what.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90888" y="2423160"/>
            <a:ext cx="2048256" cy="2514600"/>
          </a:xfrm>
          <a:prstGeom prst="roundRect">
            <a:avLst>
              <a:gd name="adj" fmla="val 9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90888" y="2423160"/>
            <a:ext cx="2048256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60604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FD0AD"/>
                </a:solidFill>
                <a:latin typeface="JetBrains Mon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880360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E9EFEC"/>
                </a:solidFill>
                <a:latin typeface="Libre Baskerville"/>
              </a:rPr>
              <a:t>A small delivery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520440"/>
            <a:ext cx="1719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B0A9"/>
                </a:solidFill>
                <a:latin typeface="Lato"/>
              </a:rPr>
              <a:t>A focused effort to harden, secure, and roll this out in tested stages — not a single big-bang launch.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10000"/>
            </a:avLst>
          </a:prstGeom>
          <a:solidFill>
            <a:srgbClr val="131E1A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772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60">
                <a:solidFill>
                  <a:srgbClr val="55A185"/>
                </a:solidFill>
                <a:latin typeface="JetBrains Mono"/>
              </a:rPr>
              <a:t>ROLLOUT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14600" y="5916168"/>
            <a:ext cx="8503920" cy="0"/>
          </a:xfrm>
          <a:prstGeom prst="line">
            <a:avLst/>
          </a:prstGeom>
          <a:ln w="20320">
            <a:solidFill>
              <a:srgbClr val="2A3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532888" y="5797296"/>
            <a:ext cx="237744" cy="237744"/>
          </a:xfrm>
          <a:prstGeom prst="ellipse">
            <a:avLst/>
          </a:prstGeom>
          <a:solidFill>
            <a:srgbClr val="1A2822"/>
          </a:solidFill>
          <a:ln w="2032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60624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FB0A9"/>
                </a:solidFill>
                <a:latin typeface="Lato"/>
              </a:rPr>
              <a:t>Foundations</a:t>
            </a:r>
          </a:p>
        </p:txBody>
      </p:sp>
      <p:sp>
        <p:nvSpPr>
          <p:cNvPr id="37" name="Oval 36"/>
          <p:cNvSpPr/>
          <p:nvPr/>
        </p:nvSpPr>
        <p:spPr>
          <a:xfrm>
            <a:off x="4590288" y="5797296"/>
            <a:ext cx="237744" cy="237744"/>
          </a:xfrm>
          <a:prstGeom prst="ellipse">
            <a:avLst/>
          </a:prstGeom>
          <a:solidFill>
            <a:srgbClr val="1A2822"/>
          </a:solidFill>
          <a:ln w="2032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60624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FB0A9"/>
                </a:solidFill>
                <a:latin typeface="Lato"/>
              </a:rPr>
              <a:t>Data core</a:t>
            </a:r>
          </a:p>
        </p:txBody>
      </p:sp>
      <p:sp>
        <p:nvSpPr>
          <p:cNvPr id="39" name="Oval 38"/>
          <p:cNvSpPr/>
          <p:nvPr/>
        </p:nvSpPr>
        <p:spPr>
          <a:xfrm>
            <a:off x="6647688" y="5797296"/>
            <a:ext cx="237744" cy="237744"/>
          </a:xfrm>
          <a:prstGeom prst="ellipse">
            <a:avLst/>
          </a:prstGeom>
          <a:solidFill>
            <a:srgbClr val="1A2822"/>
          </a:solidFill>
          <a:ln w="2032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60624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FB0A9"/>
                </a:solidFill>
                <a:latin typeface="Lato"/>
              </a:rPr>
              <a:t>Access &amp; security</a:t>
            </a:r>
          </a:p>
        </p:txBody>
      </p:sp>
      <p:sp>
        <p:nvSpPr>
          <p:cNvPr id="41" name="Oval 40"/>
          <p:cNvSpPr/>
          <p:nvPr/>
        </p:nvSpPr>
        <p:spPr>
          <a:xfrm>
            <a:off x="8705088" y="5797296"/>
            <a:ext cx="237744" cy="237744"/>
          </a:xfrm>
          <a:prstGeom prst="ellipse">
            <a:avLst/>
          </a:prstGeom>
          <a:solidFill>
            <a:srgbClr val="1A2822"/>
          </a:solidFill>
          <a:ln w="2032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60624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FB0A9"/>
                </a:solidFill>
                <a:latin typeface="Lato"/>
              </a:rPr>
              <a:t>Scale &amp; AI gateway</a:t>
            </a:r>
          </a:p>
        </p:txBody>
      </p:sp>
      <p:sp>
        <p:nvSpPr>
          <p:cNvPr id="43" name="Oval 42"/>
          <p:cNvSpPr/>
          <p:nvPr/>
        </p:nvSpPr>
        <p:spPr>
          <a:xfrm>
            <a:off x="10762488" y="5797296"/>
            <a:ext cx="237744" cy="237744"/>
          </a:xfrm>
          <a:prstGeom prst="ellipse">
            <a:avLst/>
          </a:prstGeom>
          <a:solidFill>
            <a:srgbClr val="55A185"/>
          </a:solidFill>
          <a:ln w="20320">
            <a:solidFill>
              <a:srgbClr val="7FD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60624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FD0AD"/>
                </a:solidFill>
                <a:latin typeface="Lato"/>
              </a:rPr>
              <a:t>Go-live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6C7D76"/>
                </a:solidFill>
                <a:latin typeface="JetBrains Mono"/>
              </a:rPr>
              <a:t>GHRAB VOC  ·  AGENTIC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0B5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777240" y="694944"/>
            <a:ext cx="274320" cy="237744"/>
          </a:xfrm>
          <a:prstGeom prst="triangle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740664"/>
            <a:ext cx="41148" cy="41148"/>
          </a:xfrm>
          <a:prstGeom prst="ellipse">
            <a:avLst/>
          </a:prstGeom>
          <a:solidFill>
            <a:srgbClr val="0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9EFEC"/>
                </a:solidFill>
                <a:latin typeface="Libre Baskerville"/>
              </a:rPr>
              <a:t>Ghrab VOC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E9EFEC"/>
                </a:solidFill>
                <a:latin typeface="Libre Baskerville"/>
              </a:rPr>
              <a:t>Detect deeper. Fix smarter. </a:t>
            </a:r>
            <a:r>
              <a:rPr sz="4200" b="1" i="0">
                <a:solidFill>
                  <a:srgbClr val="7FD0AD"/>
                </a:solidFill>
                <a:latin typeface="Libre Baskerville"/>
              </a:rPr>
              <a:t>Plan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9FB0A9"/>
                </a:solidFill>
                <a:latin typeface="Lato"/>
              </a:rPr>
              <a:t>The agent team already finds the attack paths that matter, points to the one fix that closes the most risk, and gives your team a plan in minutes instead of weeks.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114800"/>
            <a:ext cx="3502152" cy="141732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7939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Smarter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709160"/>
            <a:ext cx="3136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Advanced multi-step attack paths to crown jewels, found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4114800"/>
            <a:ext cx="3502152" cy="141732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27939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Smarter 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709160"/>
            <a:ext cx="3136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The single highest-leverage fix, every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4114800"/>
            <a:ext cx="3502152" cy="1417320"/>
          </a:xfrm>
          <a:prstGeom prst="roundRect">
            <a:avLst>
              <a:gd name="adj" fmla="val 8000"/>
            </a:avLst>
          </a:prstGeom>
          <a:solidFill>
            <a:srgbClr val="0E1614"/>
          </a:solidFill>
          <a:ln w="12700">
            <a:solidFill>
              <a:srgbClr val="2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27939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7FD0AD"/>
                </a:solidFill>
                <a:latin typeface="Libre Baskerville"/>
              </a:rPr>
              <a:t>Quicker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709160"/>
            <a:ext cx="3136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FB0A9"/>
                </a:solidFill>
                <a:latin typeface="Lato"/>
              </a:rPr>
              <a:t>A ranked, plain-language action plan —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760720"/>
            <a:ext cx="10789920" cy="594360"/>
          </a:xfrm>
          <a:prstGeom prst="roundRect">
            <a:avLst>
              <a:gd name="adj" fmla="val 14000"/>
            </a:avLst>
          </a:prstGeom>
          <a:solidFill>
            <a:srgbClr val="14241F"/>
          </a:solidFill>
          <a:ln w="16510">
            <a:solidFill>
              <a:srgbClr val="55A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760720"/>
            <a:ext cx="10789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1">
                <a:solidFill>
                  <a:srgbClr val="7FD0AD"/>
                </a:solidFill>
                <a:latin typeface="Lato"/>
              </a:rPr>
              <a:t>This is running today. The next step is putting it to work for every team.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C7D76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