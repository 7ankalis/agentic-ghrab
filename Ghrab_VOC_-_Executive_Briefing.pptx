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Ghrab means raven in Arabic. This is a Vulnerability Operations Center — it thinks in attack paths, not findings. Lead with the four proof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Scanners produce thousands of isolated findings; humans triage by CVSS. But attackers chain mediums across machines. A table of rows cannot see a route.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hop alone might be a medium. Together they form a direct line to the target. This is what Ghrab is built to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ladder: script, single AI call, agent, multi-agent system. Each rung adds one capability the one below lacks. Ghrab sits on the top rung.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Autonomy where it's safe, human judgment where it matters. Deterministic engine fully autonomous; agents autonomous with guardrails; the analyst stays in command.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specialists, one investigation. The Analyst Detection Agent is the flagship — it reasons out paths from scratch. The rest run in sequence, each grounded in verified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centerpiece. Math builds a verified map first, agents reason over it, and a verification gate stands between the AI and the screen. The deterministic and AI layers are drawn distinct.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design choices make confident invention structurally hard. And we measure the result publicly — 6/6 rediscovered, 6 found independently, 0 unverifiable references reach the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independent AI providers behind one interface, with automatic failover, per-provider pacing, and retry with backoff. No single vendor outage stops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Attackers automate chaining; a one-by-one defense is outmatched. Ghrab thinks in chains, continuously, and explains itself. Name the live views.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Ghrab works today and proves itself against a held-out key. Ask for support to harden it for production and connect it to more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thesis and the mark. Ghrab — the raven — thinks in attack paths, not findings.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161" y="4114800"/>
            <a:ext cx="9525000" cy="9525000"/>
          </a:xfrm>
          <a:prstGeom prst="ellipse">
            <a:avLst/>
          </a:prstGeom>
          <a:gradFill rotWithShape="1">
            <a:gsLst>
              <a:gs pos="0">
                <a:srgbClr val="0B5A48">
                  <a:alpha val="40000"/>
                </a:srgbClr>
              </a:gs>
              <a:gs pos="46000">
                <a:srgbClr val="55A185">
                  <a:alpha val="5000"/>
                </a:srgbClr>
              </a:gs>
              <a:gs pos="68000">
                <a:srgbClr val="55A18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1030337"/>
            <a:ext cx="819150" cy="8191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09800" y="1054150"/>
            <a:ext cx="543176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73"/>
              </a:lnSpc>
              <a:buNone/>
            </a:pPr>
            <a:r>
              <a:rPr lang="en-US" sz="3600" b="1" dirty="0">
                <a:solidFill>
                  <a:srgbClr val="E9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Ghrab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2209800" y="1606600"/>
            <a:ext cx="543176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28" kern="0" dirty="0">
                <a:solidFill>
                  <a:srgbClr val="6C7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— VULNERABILITY OPERATIONS CENTER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143000" y="2382887"/>
            <a:ext cx="7642574" cy="24982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596"/>
              </a:lnSpc>
              <a:buNone/>
            </a:pPr>
            <a:r>
              <a:rPr lang="en-US" sz="6150" b="1" dirty="0">
                <a:gradFill rotWithShape="1">
                  <a:gsLst>
                    <a:gs pos="34000">
                      <a:srgbClr val="E9EFEC">
                        <a:alpha val="100000"/>
                      </a:srgbClr>
                    </a:gs>
                    <a:gs pos="100000">
                      <a:srgbClr val="7FD0AD">
                        <a:alpha val="100000"/>
                      </a:srgbClr>
                    </a:gs>
                  </a:gsLst>
                  <a:lin ang="120000" scaled="0"/>
                </a:gradFill>
                <a:latin typeface="Georgia" pitchFamily="34" charset="0"/>
                <a:ea typeface="Georgia" pitchFamily="34" charset="-122"/>
                <a:cs typeface="Georgia" pitchFamily="34" charset="-120"/>
              </a:rPr>
              <a:t>An operations center that thinks in attack paths, not findings.</a:t>
            </a:r>
            <a:endParaRPr lang="en-US" sz="6150" dirty="0"/>
          </a:p>
        </p:txBody>
      </p:sp>
      <p:sp>
        <p:nvSpPr>
          <p:cNvPr id="7" name="Text 4"/>
          <p:cNvSpPr/>
          <p:nvPr/>
        </p:nvSpPr>
        <p:spPr>
          <a:xfrm>
            <a:off x="1143000" y="5166866"/>
            <a:ext cx="9900886" cy="169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818"/>
              </a:lnSpc>
              <a:buNone/>
            </a:pPr>
            <a:r>
              <a:rPr lang="en-US" sz="2175" dirty="0">
                <a:solidFill>
                  <a:srgbClr val="9FB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autonomous, agent-driven platform that reads raw scan results and our own infrastructure, then discovers the multi-step routes an attacker could take from the internet to our crown-jewel systems — every claim verified against reality first.</a:t>
            </a:r>
            <a:endParaRPr lang="en-US" sz="2175" dirty="0"/>
          </a:p>
        </p:txBody>
      </p:sp>
      <p:sp>
        <p:nvSpPr>
          <p:cNvPr id="8" name="Shape 5"/>
          <p:cNvSpPr/>
          <p:nvPr/>
        </p:nvSpPr>
        <p:spPr>
          <a:xfrm>
            <a:off x="1143000" y="7395716"/>
            <a:ext cx="3843338" cy="1860947"/>
          </a:xfrm>
          <a:prstGeom prst="roundRect">
            <a:avLst>
              <a:gd name="adj" fmla="val 6142"/>
            </a:avLst>
          </a:prstGeom>
          <a:solidFill>
            <a:srgbClr val="0E1614"/>
          </a:solidFill>
          <a:ln w="9525">
            <a:solidFill>
              <a:srgbClr val="2A3833"/>
            </a:solidFill>
            <a:prstDash val="solid"/>
          </a:ln>
          <a:effectLst>
            <a:outerShdw sx="100000" sy="100000" kx="0" ky="0" algn="bl" rotWithShape="0" blurRad="101600" dist="50800" dir="16200000">
              <a:srgbClr val="55A185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400175" y="7690991"/>
            <a:ext cx="3661886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4500" b="1" dirty="0">
                <a:solidFill>
                  <a:srgbClr val="7FD0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6/6</a:t>
            </a:r>
            <a:endParaRPr lang="en-US" sz="4500" dirty="0"/>
          </a:p>
        </p:txBody>
      </p:sp>
      <p:sp>
        <p:nvSpPr>
          <p:cNvPr id="10" name="Text 7"/>
          <p:cNvSpPr/>
          <p:nvPr/>
        </p:nvSpPr>
        <p:spPr>
          <a:xfrm>
            <a:off x="1400175" y="8395841"/>
            <a:ext cx="3428857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31"/>
              </a:lnSpc>
              <a:buNone/>
            </a:pPr>
            <a:r>
              <a:rPr lang="en-US" sz="1650" dirty="0">
                <a:solidFill>
                  <a:srgbClr val="9FB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documented attack paths rediscovered autonomously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5195888" y="7395716"/>
            <a:ext cx="3843338" cy="1860947"/>
          </a:xfrm>
          <a:prstGeom prst="roundRect">
            <a:avLst>
              <a:gd name="adj" fmla="val 6142"/>
            </a:avLst>
          </a:prstGeom>
          <a:solidFill>
            <a:srgbClr val="0E1614"/>
          </a:solidFill>
          <a:ln w="9525">
            <a:solidFill>
              <a:srgbClr val="1D282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53063" y="7690991"/>
            <a:ext cx="3661886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4500" b="1" dirty="0">
                <a:solidFill>
                  <a:srgbClr val="E9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4500" dirty="0"/>
          </a:p>
        </p:txBody>
      </p:sp>
      <p:sp>
        <p:nvSpPr>
          <p:cNvPr id="13" name="Text 10"/>
          <p:cNvSpPr/>
          <p:nvPr/>
        </p:nvSpPr>
        <p:spPr>
          <a:xfrm>
            <a:off x="5453063" y="8395841"/>
            <a:ext cx="3428857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31"/>
              </a:lnSpc>
              <a:buNone/>
            </a:pPr>
            <a:r>
              <a:rPr lang="en-US" sz="1650" dirty="0">
                <a:solidFill>
                  <a:srgbClr val="9FB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AI agents working as one team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9248775" y="7395716"/>
            <a:ext cx="3843338" cy="1860947"/>
          </a:xfrm>
          <a:prstGeom prst="roundRect">
            <a:avLst>
              <a:gd name="adj" fmla="val 6142"/>
            </a:avLst>
          </a:prstGeom>
          <a:solidFill>
            <a:srgbClr val="0E1614"/>
          </a:solidFill>
          <a:ln w="9525">
            <a:solidFill>
              <a:srgbClr val="1D282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505950" y="7690991"/>
            <a:ext cx="3661886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4500" b="1" dirty="0">
                <a:solidFill>
                  <a:srgbClr val="E9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500" dirty="0"/>
          </a:p>
        </p:txBody>
      </p:sp>
      <p:sp>
        <p:nvSpPr>
          <p:cNvPr id="16" name="Text 13"/>
          <p:cNvSpPr/>
          <p:nvPr/>
        </p:nvSpPr>
        <p:spPr>
          <a:xfrm>
            <a:off x="9505950" y="8395841"/>
            <a:ext cx="366188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31"/>
              </a:lnSpc>
              <a:buNone/>
            </a:pPr>
            <a:r>
              <a:rPr lang="en-US" sz="1650" dirty="0">
                <a:solidFill>
                  <a:srgbClr val="9FB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AI claims verified before display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3301663" y="7395716"/>
            <a:ext cx="3843338" cy="1860947"/>
          </a:xfrm>
          <a:prstGeom prst="roundRect">
            <a:avLst>
              <a:gd name="adj" fmla="val 6142"/>
            </a:avLst>
          </a:prstGeom>
          <a:solidFill>
            <a:srgbClr val="0E1614"/>
          </a:solidFill>
          <a:ln w="9525">
            <a:solidFill>
              <a:srgbClr val="1D282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3558838" y="7690991"/>
            <a:ext cx="3661886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4500" b="1" dirty="0">
                <a:solidFill>
                  <a:srgbClr val="E9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500" dirty="0"/>
          </a:p>
        </p:txBody>
      </p:sp>
      <p:sp>
        <p:nvSpPr>
          <p:cNvPr id="19" name="Text 16"/>
          <p:cNvSpPr/>
          <p:nvPr/>
        </p:nvSpPr>
        <p:spPr>
          <a:xfrm>
            <a:off x="13558838" y="8395841"/>
            <a:ext cx="366188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31"/>
              </a:lnSpc>
              <a:buNone/>
            </a:pPr>
            <a:r>
              <a:rPr lang="en-US" sz="1650" dirty="0">
                <a:solidFill>
                  <a:srgbClr val="9FB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providers with automatic failover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38200"/>
            <a:ext cx="17602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55A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THE PROBLEM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304925"/>
            <a:ext cx="7534656" cy="1354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405"/>
              </a:lnSpc>
              <a:buNone/>
            </a:pPr>
            <a:r>
              <a:rPr lang="en-US" sz="4800" b="1" dirty="0">
                <a:gradFill rotWithShape="1">
                  <a:gsLst>
                    <a:gs pos="42000">
                      <a:srgbClr val="E9EFEC">
                        <a:alpha val="100000"/>
                      </a:srgbClr>
                    </a:gs>
                    <a:gs pos="100000">
                      <a:srgbClr val="7FD0AD">
                        <a:alpha val="100000"/>
                      </a:srgbClr>
                    </a:gs>
                  </a:gsLst>
                  <a:lin ang="120000" scaled="0"/>
                </a:gradFill>
                <a:latin typeface="Georgia" pitchFamily="34" charset="0"/>
                <a:ea typeface="Georgia" pitchFamily="34" charset="-122"/>
                <a:cs typeface="Georgia" pitchFamily="34" charset="-120"/>
              </a:rPr>
              <a:t>Attackers chain findings. Dashboards show rows.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143000" y="2869109"/>
            <a:ext cx="11949494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2250" dirty="0">
                <a:solidFill>
                  <a:srgbClr val="9FB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scanner produces thousands of isolated findings, and humans triage them one by one, by severity. But a real attacker chains several “medium” findings across machines — and a pile of mediocre issues can hide one catastrophic route.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1143000" y="4669334"/>
            <a:ext cx="7858125" cy="2952750"/>
          </a:xfrm>
          <a:prstGeom prst="roundRect">
            <a:avLst>
              <a:gd name="adj" fmla="val 3871"/>
            </a:avLst>
          </a:prstGeom>
          <a:solidFill>
            <a:srgbClr val="0E1614"/>
          </a:solidFill>
          <a:ln w="9525">
            <a:solidFill>
              <a:srgbClr val="1D2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71625" y="5097959"/>
            <a:ext cx="770096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6C7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TRADITIONAL TOOLS SEE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71625" y="5536109"/>
            <a:ext cx="770096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E9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Rows in a table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1571625" y="6164759"/>
            <a:ext cx="7210901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9FB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by CVSS </a:t>
            </a:r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6C7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(the 0–10 severity score) </a:t>
            </a:r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9FB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patch the reds, ignore the yellows. Each finding is judged alone; the relationships between them stay invisible.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286875" y="4669334"/>
            <a:ext cx="7858125" cy="2952750"/>
          </a:xfrm>
          <a:prstGeom prst="roundRect">
            <a:avLst>
              <a:gd name="adj" fmla="val 3871"/>
            </a:avLst>
          </a:prstGeom>
          <a:solidFill>
            <a:srgbClr val="0E1614"/>
          </a:solidFill>
          <a:ln w="9525">
            <a:solidFill>
              <a:srgbClr val="2A3833"/>
            </a:solidFill>
            <a:prstDash val="solid"/>
          </a:ln>
          <a:effectLst>
            <a:outerShdw sx="100000" sy="100000" kx="0" ky="0" algn="bl" rotWithShape="0" blurRad="101600" dist="50800" dir="16200000">
              <a:srgbClr val="55A185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715500" y="5097959"/>
            <a:ext cx="770096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55A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GHRAB SEES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715500" y="5536109"/>
            <a:ext cx="770096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E9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Paths across machines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9715500" y="6164759"/>
            <a:ext cx="7210901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9FB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connects findings into the actual routes an adversary walks — internet foothold to crown jewel </a:t>
            </a:r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6C7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(our most business-critical system) </a:t>
            </a:r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9FB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ranked by the damage each route enables.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956346"/>
            <a:ext cx="17602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55A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THE PROBLEM, MADE CONCRETE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2423071"/>
            <a:ext cx="7534656" cy="1354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405"/>
              </a:lnSpc>
              <a:buNone/>
            </a:pPr>
            <a:r>
              <a:rPr lang="en-US" sz="4800" b="1" dirty="0">
                <a:gradFill rotWithShape="1">
                  <a:gsLst>
                    <a:gs pos="42000">
                      <a:srgbClr val="E9EFEC">
                        <a:alpha val="100000"/>
                      </a:srgbClr>
                    </a:gs>
                    <a:gs pos="100000">
                      <a:srgbClr val="7FD0AD">
                        <a:alpha val="100000"/>
                      </a:srgbClr>
                    </a:gs>
                  </a:gsLst>
                  <a:lin ang="120000" scaled="0"/>
                </a:gradFill>
                <a:latin typeface="Georgia" pitchFamily="34" charset="0"/>
                <a:ea typeface="Georgia" pitchFamily="34" charset="-122"/>
                <a:cs typeface="Georgia" pitchFamily="34" charset="-120"/>
              </a:rPr>
              <a:t>One attack path, in five hops</a:t>
            </a:r>
            <a:endParaRPr lang="en-US" sz="4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4215854"/>
            <a:ext cx="16002000" cy="2857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7587704"/>
            <a:ext cx="11835597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6C7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hop on its own might be a “medium.” Together they form a direct line to the target — exactly the kind of route Ghrab is built to surface.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296442"/>
            <a:ext cx="17602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55A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WHAT AN AI AGENT ACTUALLY IS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763167"/>
            <a:ext cx="7534656" cy="1354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405"/>
              </a:lnSpc>
              <a:buNone/>
            </a:pPr>
            <a:r>
              <a:rPr lang="en-US" sz="4800" b="1" dirty="0">
                <a:gradFill rotWithShape="1">
                  <a:gsLst>
                    <a:gs pos="42000">
                      <a:srgbClr val="E9EFEC">
                        <a:alpha val="100000"/>
                      </a:srgbClr>
                    </a:gs>
                    <a:gs pos="100000">
                      <a:srgbClr val="7FD0AD">
                        <a:alpha val="100000"/>
                      </a:srgbClr>
                    </a:gs>
                  </a:gsLst>
                  <a:lin ang="120000" scaled="0"/>
                </a:gra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 script to a security team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143000" y="3213050"/>
            <a:ext cx="11375946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9FB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rung adds one capability the rung below it lacks. Ghrab sits on the top rung.</a:t>
            </a:r>
            <a:endParaRPr lang="en-US" sz="1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67000" y="3953024"/>
            <a:ext cx="12954000" cy="50375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543348"/>
            <a:ext cx="17602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55A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DEGREES OF AUTONOMY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2010073"/>
            <a:ext cx="8162544" cy="1354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405"/>
              </a:lnSpc>
              <a:buNone/>
            </a:pPr>
            <a:r>
              <a:rPr lang="en-US" sz="4800" b="1" dirty="0">
                <a:gradFill rotWithShape="1">
                  <a:gsLst>
                    <a:gs pos="42000">
                      <a:srgbClr val="E9EFEC">
                        <a:alpha val="100000"/>
                      </a:srgbClr>
                    </a:gs>
                    <a:gs pos="100000">
                      <a:srgbClr val="7FD0AD">
                        <a:alpha val="100000"/>
                      </a:srgbClr>
                    </a:gs>
                  </a:gsLst>
                  <a:lin ang="120000" scaled="0"/>
                </a:gra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Autonomy where it’s safe, judgment where it matters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143000" y="3459956"/>
            <a:ext cx="10947877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9FB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Ghrab places each part of the system deliberately on the spectrum — and keeps the analyst in command of the decisions that carry consequences.</a:t>
            </a:r>
            <a:endParaRPr lang="en-US" sz="1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14500" y="4616053"/>
            <a:ext cx="14859000" cy="41274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23900"/>
            <a:ext cx="17602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55A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THE AGENT TEAM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152525"/>
            <a:ext cx="17602200" cy="618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96"/>
              </a:lnSpc>
              <a:buNone/>
            </a:pPr>
            <a:r>
              <a:rPr lang="en-US" sz="4350" b="1" dirty="0">
                <a:gradFill rotWithShape="1">
                  <a:gsLst>
                    <a:gs pos="42000">
                      <a:srgbClr val="E9EFEC">
                        <a:alpha val="100000"/>
                      </a:srgbClr>
                    </a:gs>
                    <a:gs pos="100000">
                      <a:srgbClr val="7FD0AD">
                        <a:alpha val="100000"/>
                      </a:srgbClr>
                    </a:gs>
                  </a:gsLst>
                  <a:lin ang="120000" scaled="0"/>
                </a:gra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specialists, one investigation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143000" y="1980158"/>
            <a:ext cx="16002000" cy="1603772"/>
          </a:xfrm>
          <a:prstGeom prst="roundRect">
            <a:avLst>
              <a:gd name="adj" fmla="val 7127"/>
            </a:avLst>
          </a:prstGeom>
          <a:gradFill rotWithShape="1">
            <a:gsLst>
              <a:gs pos="0">
                <a:srgbClr val="0E1614">
                  <a:alpha val="100000"/>
                </a:srgbClr>
              </a:gs>
              <a:gs pos="100000">
                <a:srgbClr val="0B2A22">
                  <a:alpha val="100000"/>
                </a:srgbClr>
              </a:gs>
            </a:gsLst>
            <a:lin ang="2700000" scaled="0"/>
          </a:gradFill>
          <a:ln w="9525">
            <a:solidFill>
              <a:srgbClr val="55A185"/>
            </a:solidFill>
            <a:prstDash val="solid"/>
          </a:ln>
          <a:effectLst>
            <a:outerShdw sx="100000" sy="100000" kx="0" ky="0" algn="bl" rotWithShape="0" blurRad="101600" dist="50800" dir="16200000">
              <a:srgbClr val="55A185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476375" y="2256383"/>
            <a:ext cx="375945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7FD0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Analyst Detection Agent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5046464" y="2332583"/>
            <a:ext cx="1028849" cy="266700"/>
          </a:xfrm>
          <a:prstGeom prst="roundRect">
            <a:avLst>
              <a:gd name="adj" fmla="val 50000"/>
            </a:avLst>
          </a:prstGeom>
          <a:solidFill>
            <a:srgbClr val="7FD0AD"/>
          </a:solidFill>
          <a:ln/>
        </p:spPr>
      </p:sp>
      <p:sp>
        <p:nvSpPr>
          <p:cNvPr id="7" name="Text 5"/>
          <p:cNvSpPr/>
          <p:nvPr/>
        </p:nvSpPr>
        <p:spPr>
          <a:xfrm>
            <a:off x="5160764" y="2370683"/>
            <a:ext cx="87644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080C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FLAGSHIP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1476375" y="2694533"/>
            <a:ext cx="14396049" cy="65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259"/>
              </a:lnSpc>
              <a:buNone/>
            </a:pPr>
            <a:r>
              <a:rPr lang="en-US" sz="1725" dirty="0">
                <a:solidFill>
                  <a:srgbClr val="E9E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</a:t>
            </a:r>
            <a:pPr algn="l" indent="0" marL="0">
              <a:lnSpc>
                <a:spcPct val="119259"/>
              </a:lnSpc>
              <a:buNone/>
            </a:pPr>
            <a:r>
              <a:rPr lang="en-US" sz="1725" i="1" dirty="0">
                <a:solidFill>
                  <a:srgbClr val="9FB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</a:t>
            </a:r>
            <a:pPr algn="l" indent="0" marL="0">
              <a:lnSpc>
                <a:spcPct val="119259"/>
              </a:lnSpc>
              <a:buNone/>
            </a:pPr>
            <a:r>
              <a:rPr lang="en-US" sz="1725" dirty="0">
                <a:solidFill>
                  <a:srgbClr val="E9E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infrastructure grounding and a classification of what each finding enables — no hints, no pre-solved answers — it independently reasons out attack paths hop by hop. Every hop is verified against real hosts and real finding IDs.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1143000" y="3793480"/>
            <a:ext cx="5206901" cy="2789486"/>
          </a:xfrm>
          <a:prstGeom prst="roundRect">
            <a:avLst>
              <a:gd name="adj" fmla="val 4098"/>
            </a:avLst>
          </a:prstGeom>
          <a:solidFill>
            <a:srgbClr val="0E1614"/>
          </a:solidFill>
          <a:ln w="9525">
            <a:solidFill>
              <a:srgbClr val="1D282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81125" y="4031605"/>
            <a:ext cx="520371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E9EF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Discovery Agent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1381125" y="4384030"/>
            <a:ext cx="4872570" cy="1412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909"/>
              </a:lnSpc>
              <a:buNone/>
            </a:pPr>
            <a:r>
              <a:rPr lang="en-US" sz="1425" dirty="0">
                <a:solidFill>
                  <a:srgbClr val="9FB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Validates, ranks and narrates the graph engine’s candidate chains — and hunts “toxic combinations” dangerous only together.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1381125" y="5891510"/>
            <a:ext cx="4872570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750"/>
              </a:lnSpc>
              <a:buNone/>
            </a:pPr>
            <a:r>
              <a:rPr lang="en-US" sz="1050" dirty="0">
                <a:solidFill>
                  <a:srgbClr val="6C7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grounded</a:t>
            </a:r>
            <a:pPr algn="l" indent="0" marL="0">
              <a:lnSpc>
                <a:spcPct val="148750"/>
              </a:lnSpc>
              <a:buNone/>
            </a:pPr>
            <a:r>
              <a:rPr lang="en-US" sz="1050" dirty="0">
                <a:solidFill>
                  <a:srgbClr val="9FB0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deterministic chains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381125" y="6118175"/>
            <a:ext cx="4872570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750"/>
              </a:lnSpc>
              <a:buNone/>
            </a:pPr>
            <a:r>
              <a:rPr lang="en-US" sz="1050" dirty="0">
                <a:solidFill>
                  <a:srgbClr val="6C7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</a:t>
            </a:r>
            <a:pPr algn="l" indent="0" marL="0">
              <a:lnSpc>
                <a:spcPct val="148750"/>
              </a:lnSpc>
              <a:buNone/>
            </a:pPr>
            <a:r>
              <a:rPr lang="en-US" sz="1050" dirty="0">
                <a:solidFill>
                  <a:srgbClr val="4FAE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finding IDs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40401" y="3793480"/>
            <a:ext cx="5207050" cy="2789486"/>
          </a:xfrm>
          <a:prstGeom prst="roundRect">
            <a:avLst>
              <a:gd name="adj" fmla="val 4098"/>
            </a:avLst>
          </a:prstGeom>
          <a:solidFill>
            <a:srgbClr val="0E1614"/>
          </a:solidFill>
          <a:ln w="9525">
            <a:solidFill>
              <a:srgbClr val="1D282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78526" y="4031605"/>
            <a:ext cx="52038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E9EF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Correlation Agent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6778526" y="4384030"/>
            <a:ext cx="4872724" cy="1412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909"/>
              </a:lnSpc>
              <a:buNone/>
            </a:pPr>
            <a:r>
              <a:rPr lang="en-US" sz="1425" dirty="0">
                <a:solidFill>
                  <a:srgbClr val="9FB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Cross-references the full asset inventory against every finding to surface non-obvious risk and re-prioritize beyond raw severity.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6778526" y="5891510"/>
            <a:ext cx="4872724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750"/>
              </a:lnSpc>
              <a:buNone/>
            </a:pPr>
            <a:r>
              <a:rPr lang="en-US" sz="1050" dirty="0">
                <a:solidFill>
                  <a:srgbClr val="6C7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grounded</a:t>
            </a:r>
            <a:pPr algn="l" indent="0" marL="0">
              <a:lnSpc>
                <a:spcPct val="148750"/>
              </a:lnSpc>
              <a:buNone/>
            </a:pPr>
            <a:r>
              <a:rPr lang="en-US" sz="1050" dirty="0">
                <a:solidFill>
                  <a:srgbClr val="9FB0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 + findings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778526" y="6118175"/>
            <a:ext cx="4872724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750"/>
              </a:lnSpc>
              <a:buNone/>
            </a:pPr>
            <a:r>
              <a:rPr lang="en-US" sz="1050" dirty="0">
                <a:solidFill>
                  <a:srgbClr val="6C7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</a:t>
            </a:r>
            <a:pPr algn="l" indent="0" marL="0">
              <a:lnSpc>
                <a:spcPct val="148750"/>
              </a:lnSpc>
              <a:buNone/>
            </a:pPr>
            <a:r>
              <a:rPr lang="en-US" sz="1050" dirty="0">
                <a:solidFill>
                  <a:srgbClr val="4FAE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 references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1937950" y="3793480"/>
            <a:ext cx="5207050" cy="2789486"/>
          </a:xfrm>
          <a:prstGeom prst="roundRect">
            <a:avLst>
              <a:gd name="adj" fmla="val 4098"/>
            </a:avLst>
          </a:prstGeom>
          <a:solidFill>
            <a:srgbClr val="0E1614"/>
          </a:solidFill>
          <a:ln w="9525">
            <a:solidFill>
              <a:srgbClr val="1D282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176075" y="4031605"/>
            <a:ext cx="52038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E9EF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Compliance Agent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12176075" y="4384030"/>
            <a:ext cx="4872724" cy="1412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909"/>
              </a:lnSpc>
              <a:buNone/>
            </a:pPr>
            <a:r>
              <a:rPr lang="en-US" sz="1425" dirty="0">
                <a:solidFill>
                  <a:srgbClr val="9FB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 findings and attack paths onto compliance and regulatory impact — a technical route becomes an audit-relevant statement.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12176075" y="5891510"/>
            <a:ext cx="4872724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750"/>
              </a:lnSpc>
              <a:buNone/>
            </a:pPr>
            <a:r>
              <a:rPr lang="en-US" sz="1050" dirty="0">
                <a:solidFill>
                  <a:srgbClr val="6C7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grounded</a:t>
            </a:r>
            <a:pPr algn="l" indent="0" marL="0">
              <a:lnSpc>
                <a:spcPct val="148750"/>
              </a:lnSpc>
              <a:buNone/>
            </a:pPr>
            <a:r>
              <a:rPr lang="en-US" sz="1050" dirty="0">
                <a:solidFill>
                  <a:srgbClr val="9FB0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findings + paths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2176075" y="6118175"/>
            <a:ext cx="4872724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750"/>
              </a:lnSpc>
              <a:buNone/>
            </a:pPr>
            <a:r>
              <a:rPr lang="en-US" sz="1050" dirty="0">
                <a:solidFill>
                  <a:srgbClr val="6C7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</a:t>
            </a:r>
            <a:pPr algn="l" indent="0" marL="0">
              <a:lnSpc>
                <a:spcPct val="148750"/>
              </a:lnSpc>
              <a:buNone/>
            </a:pPr>
            <a:r>
              <a:rPr lang="en-US" sz="1050" dirty="0">
                <a:solidFill>
                  <a:srgbClr val="4FAE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 mapping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143000" y="6773466"/>
            <a:ext cx="5206901" cy="2789634"/>
          </a:xfrm>
          <a:prstGeom prst="roundRect">
            <a:avLst>
              <a:gd name="adj" fmla="val 4097"/>
            </a:avLst>
          </a:prstGeom>
          <a:solidFill>
            <a:srgbClr val="0E1614"/>
          </a:solidFill>
          <a:ln w="9525">
            <a:solidFill>
              <a:srgbClr val="1D282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81125" y="7011591"/>
            <a:ext cx="520371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E9EF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Triage Agent</a:t>
            </a:r>
            <a:endParaRPr lang="en-US" sz="1575" dirty="0"/>
          </a:p>
        </p:txBody>
      </p:sp>
      <p:sp>
        <p:nvSpPr>
          <p:cNvPr id="26" name="Text 24"/>
          <p:cNvSpPr/>
          <p:nvPr/>
        </p:nvSpPr>
        <p:spPr>
          <a:xfrm>
            <a:off x="1381125" y="7364016"/>
            <a:ext cx="4872570" cy="1412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909"/>
              </a:lnSpc>
              <a:buNone/>
            </a:pPr>
            <a:r>
              <a:rPr lang="en-US" sz="1425" dirty="0">
                <a:solidFill>
                  <a:srgbClr val="9FB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every prior agent’s conclusions and writes one consistent executive synthesis — the narrative on the Command Center.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1381125" y="8871645"/>
            <a:ext cx="4872570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750"/>
              </a:lnSpc>
              <a:buNone/>
            </a:pPr>
            <a:r>
              <a:rPr lang="en-US" sz="1050" dirty="0">
                <a:solidFill>
                  <a:srgbClr val="6C7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grounded</a:t>
            </a:r>
            <a:pPr algn="l" indent="0" marL="0">
              <a:lnSpc>
                <a:spcPct val="148750"/>
              </a:lnSpc>
              <a:buNone/>
            </a:pPr>
            <a:r>
              <a:rPr lang="en-US" sz="1050" dirty="0">
                <a:solidFill>
                  <a:srgbClr val="9FB0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agent outputs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381125" y="9098310"/>
            <a:ext cx="4872570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750"/>
              </a:lnSpc>
              <a:buNone/>
            </a:pPr>
            <a:r>
              <a:rPr lang="en-US" sz="1050" dirty="0">
                <a:solidFill>
                  <a:srgbClr val="6C7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</a:t>
            </a:r>
            <a:pPr algn="l" indent="0" marL="0">
              <a:lnSpc>
                <a:spcPct val="148750"/>
              </a:lnSpc>
              <a:buNone/>
            </a:pPr>
            <a:r>
              <a:rPr lang="en-US" sz="1050" dirty="0">
                <a:solidFill>
                  <a:srgbClr val="4FAE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consistency check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540401" y="6773466"/>
            <a:ext cx="5207050" cy="2789634"/>
          </a:xfrm>
          <a:prstGeom prst="roundRect">
            <a:avLst>
              <a:gd name="adj" fmla="val 4097"/>
            </a:avLst>
          </a:prstGeom>
          <a:solidFill>
            <a:srgbClr val="0E1614"/>
          </a:solidFill>
          <a:ln w="9525">
            <a:solidFill>
              <a:srgbClr val="1D282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78526" y="7011591"/>
            <a:ext cx="52038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E9EF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Remediation Agent</a:t>
            </a:r>
            <a:endParaRPr lang="en-US" sz="1575" dirty="0"/>
          </a:p>
        </p:txBody>
      </p:sp>
      <p:sp>
        <p:nvSpPr>
          <p:cNvPr id="31" name="Text 29"/>
          <p:cNvSpPr/>
          <p:nvPr/>
        </p:nvSpPr>
        <p:spPr>
          <a:xfrm>
            <a:off x="6778526" y="7364016"/>
            <a:ext cx="4872724" cy="1412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909"/>
              </a:lnSpc>
              <a:buNone/>
            </a:pPr>
            <a:r>
              <a:rPr lang="en-US" sz="1425" dirty="0">
                <a:solidFill>
                  <a:srgbClr val="9FB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paths into concrete, ordered fix plans — surfacing the single fix that severs the most attack paths at once.</a:t>
            </a:r>
            <a:endParaRPr lang="en-US" sz="1425" dirty="0"/>
          </a:p>
        </p:txBody>
      </p:sp>
      <p:sp>
        <p:nvSpPr>
          <p:cNvPr id="32" name="Text 30"/>
          <p:cNvSpPr/>
          <p:nvPr/>
        </p:nvSpPr>
        <p:spPr>
          <a:xfrm>
            <a:off x="6778526" y="8871645"/>
            <a:ext cx="4872724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750"/>
              </a:lnSpc>
              <a:buNone/>
            </a:pPr>
            <a:r>
              <a:rPr lang="en-US" sz="1050" dirty="0">
                <a:solidFill>
                  <a:srgbClr val="6C7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grounded</a:t>
            </a:r>
            <a:pPr algn="l" indent="0" marL="0">
              <a:lnSpc>
                <a:spcPct val="148750"/>
              </a:lnSpc>
              <a:buNone/>
            </a:pPr>
            <a:r>
              <a:rPr lang="en-US" sz="1050" dirty="0">
                <a:solidFill>
                  <a:srgbClr val="9FB0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attack graph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778526" y="9098310"/>
            <a:ext cx="4872724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750"/>
              </a:lnSpc>
              <a:buNone/>
            </a:pPr>
            <a:r>
              <a:rPr lang="en-US" sz="1050" dirty="0">
                <a:solidFill>
                  <a:srgbClr val="6C7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</a:t>
            </a:r>
            <a:pPr algn="l" indent="0" marL="0">
              <a:lnSpc>
                <a:spcPct val="148750"/>
              </a:lnSpc>
              <a:buNone/>
            </a:pPr>
            <a:r>
              <a:rPr lang="en-US" sz="1050" dirty="0">
                <a:solidFill>
                  <a:srgbClr val="4FAE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 coverage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1937950" y="6773466"/>
            <a:ext cx="5207050" cy="2789634"/>
          </a:xfrm>
          <a:prstGeom prst="roundRect">
            <a:avLst>
              <a:gd name="adj" fmla="val 4097"/>
            </a:avLst>
          </a:prstGeom>
          <a:solidFill>
            <a:srgbClr val="0E1614"/>
          </a:solidFill>
          <a:ln w="9525">
            <a:solidFill>
              <a:srgbClr val="C97B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176075" y="7011591"/>
            <a:ext cx="250837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E9EF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Grounded AI Analyst</a:t>
            </a:r>
            <a:endParaRPr lang="en-US" sz="1575" dirty="0"/>
          </a:p>
        </p:txBody>
      </p:sp>
      <p:sp>
        <p:nvSpPr>
          <p:cNvPr id="36" name="Text 34"/>
          <p:cNvSpPr/>
          <p:nvPr/>
        </p:nvSpPr>
        <p:spPr>
          <a:xfrm>
            <a:off x="14551670" y="7068741"/>
            <a:ext cx="41924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C97B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12176075" y="7364016"/>
            <a:ext cx="4872724" cy="1412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909"/>
              </a:lnSpc>
              <a:buNone/>
            </a:pPr>
            <a:r>
              <a:rPr lang="en-US" sz="1425" dirty="0">
                <a:solidFill>
                  <a:srgbClr val="9FB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streaming conversational analyst answering questions by citing real discovered paths and finding IDs — never generic advice.</a:t>
            </a:r>
            <a:endParaRPr lang="en-US" sz="1425" dirty="0"/>
          </a:p>
        </p:txBody>
      </p:sp>
      <p:sp>
        <p:nvSpPr>
          <p:cNvPr id="38" name="Text 36"/>
          <p:cNvSpPr/>
          <p:nvPr/>
        </p:nvSpPr>
        <p:spPr>
          <a:xfrm>
            <a:off x="12176075" y="8871645"/>
            <a:ext cx="4872724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750"/>
              </a:lnSpc>
              <a:buNone/>
            </a:pPr>
            <a:r>
              <a:rPr lang="en-US" sz="1050" dirty="0">
                <a:solidFill>
                  <a:srgbClr val="6C7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grounded</a:t>
            </a:r>
            <a:pPr algn="l" indent="0" marL="0">
              <a:lnSpc>
                <a:spcPct val="148750"/>
              </a:lnSpc>
              <a:buNone/>
            </a:pPr>
            <a:r>
              <a:rPr lang="en-US" sz="1050" dirty="0">
                <a:solidFill>
                  <a:srgbClr val="9FB0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discovered paths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2176075" y="9098310"/>
            <a:ext cx="4872724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750"/>
              </a:lnSpc>
              <a:buNone/>
            </a:pPr>
            <a:r>
              <a:rPr lang="en-US" sz="1050" dirty="0">
                <a:solidFill>
                  <a:srgbClr val="6C7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</a:t>
            </a:r>
            <a:pPr algn="l" indent="0" marL="0">
              <a:lnSpc>
                <a:spcPct val="148750"/>
              </a:lnSpc>
              <a:buNone/>
            </a:pPr>
            <a:r>
              <a:rPr lang="en-US" sz="1050" dirty="0">
                <a:solidFill>
                  <a:srgbClr val="4FAE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cited IDs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80C0B">
                  <a:alpha val="100000"/>
                </a:srgbClr>
              </a:gs>
              <a:gs pos="60000">
                <a:srgbClr val="0A1210">
                  <a:alpha val="100000"/>
                </a:srgbClr>
              </a:gs>
              <a:gs pos="100000">
                <a:srgbClr val="080C0B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57250" y="1112490"/>
            <a:ext cx="182308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55A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THE PIPELINE CYCLE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57250" y="1541115"/>
            <a:ext cx="18230850" cy="618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96"/>
              </a:lnSpc>
              <a:buNone/>
            </a:pPr>
            <a:r>
              <a:rPr lang="en-US" sz="4350" b="1" dirty="0">
                <a:gradFill rotWithShape="1">
                  <a:gsLst>
                    <a:gs pos="42000">
                      <a:srgbClr val="E9EFEC">
                        <a:alpha val="100000"/>
                      </a:srgbClr>
                    </a:gs>
                    <a:gs pos="100000">
                      <a:srgbClr val="7FD0AD">
                        <a:alpha val="100000"/>
                      </a:srgbClr>
                    </a:gs>
                  </a:gsLst>
                  <a:lin ang="120000" scaled="0"/>
                </a:gradFill>
                <a:latin typeface="Georgia" pitchFamily="34" charset="0"/>
                <a:ea typeface="Georgia" pitchFamily="34" charset="-122"/>
                <a:cs typeface="Georgia" pitchFamily="34" charset="-120"/>
              </a:rPr>
              <a:t>Math first, AI second, verified before you see it</a:t>
            </a:r>
            <a:endParaRPr lang="en-US" sz="4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7250" y="2444948"/>
            <a:ext cx="16573500" cy="62150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575" y="8888611"/>
            <a:ext cx="182308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435"/>
              </a:lnSpc>
              <a:buNone/>
            </a:pPr>
            <a:r>
              <a:rPr lang="en-US" sz="1500" dirty="0">
                <a:solidFill>
                  <a:srgbClr val="9FB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QID </a:t>
            </a:r>
            <a:pPr algn="ctr" indent="0" marL="0">
              <a:lnSpc>
                <a:spcPct val="130435"/>
              </a:lnSpc>
              <a:buNone/>
            </a:pPr>
            <a:r>
              <a:rPr lang="en-US" sz="1500" dirty="0">
                <a:solidFill>
                  <a:srgbClr val="6C7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scanner’s finding ID · </a:t>
            </a:r>
            <a:pPr algn="ctr" indent="0" marL="0">
              <a:lnSpc>
                <a:spcPct val="130435"/>
              </a:lnSpc>
              <a:buNone/>
            </a:pPr>
            <a:r>
              <a:rPr lang="en-US" sz="1500" dirty="0">
                <a:solidFill>
                  <a:srgbClr val="9FB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CMDB </a:t>
            </a:r>
            <a:pPr algn="ctr" indent="0" marL="0">
              <a:lnSpc>
                <a:spcPct val="130435"/>
              </a:lnSpc>
              <a:buNone/>
            </a:pPr>
            <a:r>
              <a:rPr lang="en-US" sz="1500" dirty="0">
                <a:solidFill>
                  <a:srgbClr val="6C7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inventory of our systems · </a:t>
            </a:r>
            <a:pPr algn="ctr" indent="0" marL="0">
              <a:lnSpc>
                <a:spcPct val="130435"/>
              </a:lnSpc>
              <a:buNone/>
            </a:pPr>
            <a:r>
              <a:rPr lang="en-US" sz="1500" dirty="0">
                <a:solidFill>
                  <a:srgbClr val="9FB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EPSS </a:t>
            </a:r>
            <a:pPr algn="ctr" indent="0" marL="0">
              <a:lnSpc>
                <a:spcPct val="130435"/>
              </a:lnSpc>
              <a:buNone/>
            </a:pPr>
            <a:r>
              <a:rPr lang="en-US" sz="1500" dirty="0">
                <a:solidFill>
                  <a:srgbClr val="6C7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probability a vuln is exploited · </a:t>
            </a:r>
            <a:pPr algn="ctr" indent="0" marL="0">
              <a:lnSpc>
                <a:spcPct val="130435"/>
              </a:lnSpc>
              <a:buNone/>
            </a:pPr>
            <a:r>
              <a:rPr lang="en-US" sz="1500" dirty="0">
                <a:solidFill>
                  <a:srgbClr val="9FB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KEV </a:t>
            </a:r>
            <a:pPr algn="ctr" indent="0" marL="0">
              <a:lnSpc>
                <a:spcPct val="130435"/>
              </a:lnSpc>
              <a:buNone/>
            </a:pPr>
            <a:r>
              <a:rPr lang="en-US" sz="1500" dirty="0">
                <a:solidFill>
                  <a:srgbClr val="6C7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catalog of known-exploited vulns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853803"/>
            <a:ext cx="17602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55A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WHY YOU CAN TRUST IT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2282428"/>
            <a:ext cx="7397306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96"/>
              </a:lnSpc>
              <a:buNone/>
            </a:pPr>
            <a:r>
              <a:rPr lang="en-US" sz="4350" b="1" dirty="0">
                <a:gradFill rotWithShape="1">
                  <a:gsLst>
                    <a:gs pos="42000">
                      <a:srgbClr val="E9EFEC">
                        <a:alpha val="100000"/>
                      </a:srgbClr>
                    </a:gs>
                    <a:gs pos="100000">
                      <a:srgbClr val="7FD0AD">
                        <a:alpha val="100000"/>
                      </a:srgbClr>
                    </a:gs>
                  </a:gsLst>
                  <a:lin ang="120000" scaled="0"/>
                </a:gra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can’t make things up and reach the screen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143000" y="3766245"/>
            <a:ext cx="3857625" cy="2278261"/>
          </a:xfrm>
          <a:prstGeom prst="roundRect">
            <a:avLst>
              <a:gd name="adj" fmla="val 5017"/>
            </a:avLst>
          </a:prstGeom>
          <a:solidFill>
            <a:srgbClr val="0E1614"/>
          </a:solidFill>
          <a:ln w="9525">
            <a:solidFill>
              <a:srgbClr val="1D28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00175" y="4023420"/>
            <a:ext cx="367760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5A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00175" y="4356795"/>
            <a:ext cx="367760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E9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Deterministic first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400175" y="4737795"/>
            <a:ext cx="3443573" cy="825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227"/>
              </a:lnSpc>
              <a:buNone/>
            </a:pPr>
            <a:r>
              <a:rPr lang="en-US" sz="1425" dirty="0">
                <a:solidFill>
                  <a:srgbClr val="9FB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never invents the map. It reasons over a map the math already built and proved.</a:t>
            </a:r>
            <a:endParaRPr lang="en-US" sz="1425" dirty="0"/>
          </a:p>
        </p:txBody>
      </p:sp>
      <p:sp>
        <p:nvSpPr>
          <p:cNvPr id="8" name="Shape 6"/>
          <p:cNvSpPr/>
          <p:nvPr/>
        </p:nvSpPr>
        <p:spPr>
          <a:xfrm>
            <a:off x="5191125" y="3766245"/>
            <a:ext cx="3857625" cy="2278261"/>
          </a:xfrm>
          <a:prstGeom prst="roundRect">
            <a:avLst>
              <a:gd name="adj" fmla="val 5017"/>
            </a:avLst>
          </a:prstGeom>
          <a:solidFill>
            <a:srgbClr val="0E1614"/>
          </a:solidFill>
          <a:ln w="9525">
            <a:solidFill>
              <a:srgbClr val="1D28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48300" y="4023420"/>
            <a:ext cx="367760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5A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48300" y="4356795"/>
            <a:ext cx="367760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E9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 key locked away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5448300" y="4737795"/>
            <a:ext cx="3443573" cy="1087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227"/>
              </a:lnSpc>
              <a:buNone/>
            </a:pPr>
            <a:r>
              <a:rPr lang="en-US" sz="1425" dirty="0">
                <a:solidFill>
                  <a:srgbClr val="9FB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Documented paths sit outside the pipeline — an exam key in a drawer. Agents can’t cheat; they’re scored against it after.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9239250" y="3766245"/>
            <a:ext cx="3857625" cy="2278261"/>
          </a:xfrm>
          <a:prstGeom prst="roundRect">
            <a:avLst>
              <a:gd name="adj" fmla="val 5017"/>
            </a:avLst>
          </a:prstGeom>
          <a:solidFill>
            <a:srgbClr val="0E1614"/>
          </a:solidFill>
          <a:ln w="9525">
            <a:solidFill>
              <a:srgbClr val="1D282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96425" y="4023420"/>
            <a:ext cx="367760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5A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496425" y="4356795"/>
            <a:ext cx="367760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E9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Post-generation checks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9496425" y="4737795"/>
            <a:ext cx="3443573" cy="825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227"/>
              </a:lnSpc>
              <a:buNone/>
            </a:pPr>
            <a:r>
              <a:rPr lang="en-US" sz="1425" dirty="0">
                <a:solidFill>
                  <a:srgbClr val="9FB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cited path, finding and host is re-checked. Anything unverifiable is filtered before the UI.</a:t>
            </a:r>
            <a:endParaRPr lang="en-US" sz="1425" dirty="0"/>
          </a:p>
        </p:txBody>
      </p:sp>
      <p:sp>
        <p:nvSpPr>
          <p:cNvPr id="16" name="Shape 14"/>
          <p:cNvSpPr/>
          <p:nvPr/>
        </p:nvSpPr>
        <p:spPr>
          <a:xfrm>
            <a:off x="13287375" y="3766245"/>
            <a:ext cx="3857625" cy="2278261"/>
          </a:xfrm>
          <a:prstGeom prst="roundRect">
            <a:avLst>
              <a:gd name="adj" fmla="val 5017"/>
            </a:avLst>
          </a:prstGeom>
          <a:solidFill>
            <a:srgbClr val="0E1614"/>
          </a:solidFill>
          <a:ln w="9525">
            <a:solidFill>
              <a:srgbClr val="1D282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544550" y="4023420"/>
            <a:ext cx="367760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5A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544550" y="4356795"/>
            <a:ext cx="367760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E9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score is public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3544550" y="4737795"/>
            <a:ext cx="3443573" cy="825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227"/>
              </a:lnSpc>
              <a:buNone/>
            </a:pPr>
            <a:r>
              <a:rPr lang="en-US" sz="1425" dirty="0">
                <a:solidFill>
                  <a:srgbClr val="9FB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Verification page shows how the AI scores against the held-out oracle — honestly, in the open.</a:t>
            </a:r>
            <a:endParaRPr lang="en-US" sz="1425" dirty="0"/>
          </a:p>
        </p:txBody>
      </p:sp>
      <p:sp>
        <p:nvSpPr>
          <p:cNvPr id="20" name="Shape 18"/>
          <p:cNvSpPr/>
          <p:nvPr/>
        </p:nvSpPr>
        <p:spPr>
          <a:xfrm>
            <a:off x="1143000" y="6330255"/>
            <a:ext cx="16002000" cy="2102941"/>
          </a:xfrm>
          <a:prstGeom prst="roundRect">
            <a:avLst>
              <a:gd name="adj" fmla="val 6341"/>
            </a:avLst>
          </a:prstGeom>
          <a:gradFill rotWithShape="1">
            <a:gsLst>
              <a:gs pos="0">
                <a:srgbClr val="0E1614">
                  <a:alpha val="100000"/>
                </a:srgbClr>
              </a:gs>
              <a:gs pos="100000">
                <a:srgbClr val="0B2A22">
                  <a:alpha val="100000"/>
                </a:srgbClr>
              </a:gs>
            </a:gsLst>
            <a:lin ang="2700000" scaled="0"/>
          </a:gradFill>
          <a:ln w="9525">
            <a:solidFill>
              <a:srgbClr val="55A185"/>
            </a:solidFill>
            <a:prstDash val="solid"/>
          </a:ln>
          <a:effectLst>
            <a:outerShdw sx="100000" sy="100000" kx="0" ky="0" algn="bl" rotWithShape="0" blurRad="101600" dist="50800" dir="16200000">
              <a:srgbClr val="55A185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571625" y="6701730"/>
            <a:ext cx="524562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00"/>
              </a:lnSpc>
              <a:buNone/>
            </a:pPr>
            <a:r>
              <a:rPr lang="en-US" sz="5250" b="1" dirty="0">
                <a:solidFill>
                  <a:srgbClr val="7FD0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/ 6</a:t>
            </a:r>
            <a:endParaRPr lang="en-US" sz="5250" dirty="0"/>
          </a:p>
        </p:txBody>
      </p:sp>
      <p:sp>
        <p:nvSpPr>
          <p:cNvPr id="22" name="Text 20"/>
          <p:cNvSpPr/>
          <p:nvPr/>
        </p:nvSpPr>
        <p:spPr>
          <a:xfrm>
            <a:off x="1571625" y="7501830"/>
            <a:ext cx="4911813" cy="597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dirty="0">
                <a:solidFill>
                  <a:srgbClr val="9FB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documented attack paths the engine rediscovers — on </a:t>
            </a:r>
            <a:pPr algn="l" indent="0" marL="0">
              <a:lnSpc>
                <a:spcPct val="122500"/>
              </a:lnSpc>
              <a:buNone/>
            </a:pPr>
            <a:r>
              <a:rPr lang="en-US" sz="1575" i="1" dirty="0">
                <a:solidFill>
                  <a:srgbClr val="E9E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</a:t>
            </a:r>
            <a:pPr algn="l" indent="0" marL="0">
              <a:lnSpc>
                <a:spcPct val="122500"/>
              </a:lnSpc>
              <a:buNone/>
            </a:pPr>
            <a:r>
              <a:rPr lang="en-US" sz="1575" dirty="0">
                <a:solidFill>
                  <a:srgbClr val="9FB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environments.</a:t>
            </a:r>
            <a:endParaRPr lang="en-US" sz="1575" dirty="0"/>
          </a:p>
        </p:txBody>
      </p:sp>
      <p:sp>
        <p:nvSpPr>
          <p:cNvPr id="23" name="Text 21"/>
          <p:cNvSpPr/>
          <p:nvPr/>
        </p:nvSpPr>
        <p:spPr>
          <a:xfrm>
            <a:off x="6759476" y="6701730"/>
            <a:ext cx="524579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00"/>
              </a:lnSpc>
              <a:buNone/>
            </a:pPr>
            <a:r>
              <a:rPr lang="en-US" sz="5250" b="1" dirty="0">
                <a:solidFill>
                  <a:srgbClr val="7FD0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5250" dirty="0"/>
          </a:p>
        </p:txBody>
      </p:sp>
      <p:sp>
        <p:nvSpPr>
          <p:cNvPr id="24" name="Text 22"/>
          <p:cNvSpPr/>
          <p:nvPr/>
        </p:nvSpPr>
        <p:spPr>
          <a:xfrm>
            <a:off x="6759476" y="7501830"/>
            <a:ext cx="4911967" cy="597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dirty="0">
                <a:solidFill>
                  <a:srgbClr val="9FB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paths the Analyst Agent found </a:t>
            </a:r>
            <a:pPr algn="l" indent="0" marL="0">
              <a:lnSpc>
                <a:spcPct val="122500"/>
              </a:lnSpc>
              <a:buNone/>
            </a:pPr>
            <a:r>
              <a:rPr lang="en-US" sz="1575" i="1" dirty="0">
                <a:solidFill>
                  <a:srgbClr val="E9E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independently</a:t>
            </a:r>
            <a:pPr algn="l" indent="0" marL="0">
              <a:lnSpc>
                <a:spcPct val="122500"/>
              </a:lnSpc>
              <a:buNone/>
            </a:pPr>
            <a:r>
              <a:rPr lang="en-US" sz="1575" dirty="0">
                <a:solidFill>
                  <a:srgbClr val="9FB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all hitting real crown jewels.</a:t>
            </a:r>
            <a:endParaRPr lang="en-US" sz="1575" dirty="0"/>
          </a:p>
        </p:txBody>
      </p:sp>
      <p:sp>
        <p:nvSpPr>
          <p:cNvPr id="25" name="Text 23"/>
          <p:cNvSpPr/>
          <p:nvPr/>
        </p:nvSpPr>
        <p:spPr>
          <a:xfrm>
            <a:off x="11947475" y="6701730"/>
            <a:ext cx="524562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00"/>
              </a:lnSpc>
              <a:buNone/>
            </a:pPr>
            <a:r>
              <a:rPr lang="en-US" sz="5250" b="1" dirty="0">
                <a:solidFill>
                  <a:srgbClr val="7FD0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5250" dirty="0"/>
          </a:p>
        </p:txBody>
      </p:sp>
      <p:sp>
        <p:nvSpPr>
          <p:cNvPr id="26" name="Text 24"/>
          <p:cNvSpPr/>
          <p:nvPr/>
        </p:nvSpPr>
        <p:spPr>
          <a:xfrm>
            <a:off x="11947475" y="7501830"/>
            <a:ext cx="5245626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dirty="0">
                <a:solidFill>
                  <a:srgbClr val="9FB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unverifiable references allowed to reach the screen.</a:t>
            </a:r>
            <a:endParaRPr lang="en-US" sz="15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494359"/>
            <a:ext cx="17602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55A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ENGINEERING RESILIENCE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2961084"/>
            <a:ext cx="7534656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11"/>
              </a:lnSpc>
              <a:buNone/>
            </a:pPr>
            <a:r>
              <a:rPr lang="en-US" sz="4800" b="1" dirty="0">
                <a:gradFill rotWithShape="1">
                  <a:gsLst>
                    <a:gs pos="42000">
                      <a:srgbClr val="E9EFEC">
                        <a:alpha val="100000"/>
                      </a:srgbClr>
                    </a:gs>
                    <a:gs pos="100000">
                      <a:srgbClr val="7FD0AD">
                        <a:alpha val="100000"/>
                      </a:srgbClr>
                    </a:gs>
                  </a:gsLst>
                  <a:lin ang="120000" scaled="0"/>
                </a:gradFill>
                <a:latin typeface="Georgia" pitchFamily="34" charset="0"/>
                <a:ea typeface="Georgia" pitchFamily="34" charset="-122"/>
                <a:cs typeface="Georgia" pitchFamily="34" charset="-120"/>
              </a:rPr>
              <a:t>No single AI vendor can take us down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143000" y="4431506"/>
            <a:ext cx="11471373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9FB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runs across three independent AI providers with automatic failover, paced to each provider’s limits and retried with backoff. If one has an outage, analysis continues.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143000" y="5700117"/>
            <a:ext cx="5168801" cy="2092375"/>
          </a:xfrm>
          <a:prstGeom prst="roundRect">
            <a:avLst>
              <a:gd name="adj" fmla="val 5463"/>
            </a:avLst>
          </a:prstGeom>
          <a:solidFill>
            <a:srgbClr val="0E1614"/>
          </a:solidFill>
          <a:ln w="9525">
            <a:solidFill>
              <a:srgbClr val="1D2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14475" y="6071592"/>
            <a:ext cx="486843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E9EF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Mistral · Groq · Gemini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1514475" y="6509742"/>
            <a:ext cx="4558626" cy="949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692"/>
              </a:lnSpc>
              <a:buNone/>
            </a:pPr>
            <a:r>
              <a:rPr lang="en-US" sz="1650" dirty="0">
                <a:solidFill>
                  <a:srgbClr val="9FB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providers behind one interface. If a request fails, it fails over to the next automatically.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559451" y="5700117"/>
            <a:ext cx="5168950" cy="2092375"/>
          </a:xfrm>
          <a:prstGeom prst="roundRect">
            <a:avLst>
              <a:gd name="adj" fmla="val 5463"/>
            </a:avLst>
          </a:prstGeom>
          <a:solidFill>
            <a:srgbClr val="0E1614"/>
          </a:solidFill>
          <a:ln w="9525">
            <a:solidFill>
              <a:srgbClr val="1D28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30926" y="6071592"/>
            <a:ext cx="48686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E9EF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Rate-limit pacing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6930926" y="6509742"/>
            <a:ext cx="4558780" cy="645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692"/>
              </a:lnSpc>
              <a:buNone/>
            </a:pPr>
            <a:r>
              <a:rPr lang="en-US" sz="1650" dirty="0">
                <a:solidFill>
                  <a:srgbClr val="9FB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are paced per provider so we stay within limits instead of hammering into errors.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1976050" y="5700117"/>
            <a:ext cx="5168950" cy="2092375"/>
          </a:xfrm>
          <a:prstGeom prst="roundRect">
            <a:avLst>
              <a:gd name="adj" fmla="val 5463"/>
            </a:avLst>
          </a:prstGeom>
          <a:solidFill>
            <a:srgbClr val="0E1614"/>
          </a:solidFill>
          <a:ln w="9525">
            <a:solidFill>
              <a:srgbClr val="1D28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7525" y="6071592"/>
            <a:ext cx="48686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E9EF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Retry with backoff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12347525" y="6509742"/>
            <a:ext cx="4558780" cy="645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692"/>
              </a:lnSpc>
              <a:buNone/>
            </a:pPr>
            <a:r>
              <a:rPr lang="en-US" sz="1650" dirty="0">
                <a:solidFill>
                  <a:srgbClr val="9FB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Transient failures are retried with increasing waits — a hiccup never becomes a stall.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80C0B">
                  <a:alpha val="100000"/>
                </a:srgbClr>
              </a:gs>
              <a:gs pos="55000">
                <a:srgbClr val="0A1210">
                  <a:alpha val="100000"/>
                </a:srgbClr>
              </a:gs>
              <a:gs pos="100000">
                <a:srgbClr val="080C0B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2408634"/>
            <a:ext cx="17602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55A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BUSINESS VALUE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43000" y="2837259"/>
            <a:ext cx="7397306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96"/>
              </a:lnSpc>
              <a:buNone/>
            </a:pPr>
            <a:r>
              <a:rPr lang="en-US" sz="4350" b="1" dirty="0">
                <a:gradFill rotWithShape="1">
                  <a:gsLst>
                    <a:gs pos="42000">
                      <a:srgbClr val="E9EFEC">
                        <a:alpha val="100000"/>
                      </a:srgbClr>
                    </a:gs>
                    <a:gs pos="100000">
                      <a:srgbClr val="7FD0AD">
                        <a:alpha val="100000"/>
                      </a:srgbClr>
                    </a:gs>
                  </a:gsLst>
                  <a:lin ang="120000" scaled="0"/>
                </a:gra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speed against a machine adversary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4187726"/>
            <a:ext cx="11243886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9FB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Attackers already automate the chaining of findings. A defense that reviews findings one at a time is structurally outmatched. Ghrab thinks in chains, continuously, and explains itself in plain language.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1143000" y="5286673"/>
            <a:ext cx="3857625" cy="1458218"/>
          </a:xfrm>
          <a:prstGeom prst="roundRect">
            <a:avLst>
              <a:gd name="adj" fmla="val 7838"/>
            </a:avLst>
          </a:prstGeom>
          <a:solidFill>
            <a:srgbClr val="0E1614"/>
          </a:solidFill>
          <a:ln w="9525">
            <a:solidFill>
              <a:srgbClr val="1D28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9225" y="5562898"/>
            <a:ext cx="363569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E9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noise to routes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419225" y="5943898"/>
            <a:ext cx="3404330" cy="56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227"/>
              </a:lnSpc>
              <a:buNone/>
            </a:pPr>
            <a:r>
              <a:rPr lang="en-US" sz="1425" dirty="0">
                <a:solidFill>
                  <a:srgbClr val="9FB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Thousands of findings become a ranked short list of real attack paths.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5191125" y="5286673"/>
            <a:ext cx="3857625" cy="1458218"/>
          </a:xfrm>
          <a:prstGeom prst="roundRect">
            <a:avLst>
              <a:gd name="adj" fmla="val 7838"/>
            </a:avLst>
          </a:prstGeom>
          <a:solidFill>
            <a:srgbClr val="0E1614"/>
          </a:solidFill>
          <a:ln w="9525">
            <a:solidFill>
              <a:srgbClr val="1D282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67350" y="5562898"/>
            <a:ext cx="363569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E9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one fix that matters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5467350" y="5943898"/>
            <a:ext cx="3404330" cy="56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227"/>
              </a:lnSpc>
              <a:buNone/>
            </a:pPr>
            <a:r>
              <a:rPr lang="en-US" sz="1425" dirty="0">
                <a:solidFill>
                  <a:srgbClr val="9FB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single remediation that severs the most attack paths, first.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9239250" y="5286673"/>
            <a:ext cx="3857625" cy="1458218"/>
          </a:xfrm>
          <a:prstGeom prst="roundRect">
            <a:avLst>
              <a:gd name="adj" fmla="val 7838"/>
            </a:avLst>
          </a:prstGeom>
          <a:solidFill>
            <a:srgbClr val="0E1614"/>
          </a:solidFill>
          <a:ln w="9525">
            <a:solidFill>
              <a:srgbClr val="1D282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15475" y="5562898"/>
            <a:ext cx="363569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E9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Audit-ready mapping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9515475" y="5943898"/>
            <a:ext cx="3404330" cy="56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227"/>
              </a:lnSpc>
              <a:buNone/>
            </a:pPr>
            <a:r>
              <a:rPr lang="en-US" sz="1425" dirty="0">
                <a:solidFill>
                  <a:srgbClr val="9FB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and paths tied to compliance impact, ready for review.</a:t>
            </a:r>
            <a:endParaRPr lang="en-US" sz="1425" dirty="0"/>
          </a:p>
        </p:txBody>
      </p:sp>
      <p:sp>
        <p:nvSpPr>
          <p:cNvPr id="15" name="Shape 13"/>
          <p:cNvSpPr/>
          <p:nvPr/>
        </p:nvSpPr>
        <p:spPr>
          <a:xfrm>
            <a:off x="13287375" y="5286673"/>
            <a:ext cx="3857625" cy="1458218"/>
          </a:xfrm>
          <a:prstGeom prst="roundRect">
            <a:avLst>
              <a:gd name="adj" fmla="val 7838"/>
            </a:avLst>
          </a:prstGeom>
          <a:solidFill>
            <a:srgbClr val="0E1614"/>
          </a:solidFill>
          <a:ln w="9525">
            <a:solidFill>
              <a:srgbClr val="1D28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563600" y="5562898"/>
            <a:ext cx="363569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E9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analyst on call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3563600" y="5943898"/>
            <a:ext cx="3404330" cy="56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227"/>
              </a:lnSpc>
              <a:buNone/>
            </a:pPr>
            <a:r>
              <a:rPr lang="en-US" sz="1425" dirty="0">
                <a:solidFill>
                  <a:srgbClr val="9FB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grounded chat answers questions instantly, citing real evidence.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1143000" y="7125891"/>
            <a:ext cx="176022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27" kern="0" dirty="0">
                <a:solidFill>
                  <a:srgbClr val="6C7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THE LIVE PLATFORM TODAY</a:t>
            </a:r>
            <a:endParaRPr lang="en-US" sz="1275" dirty="0"/>
          </a:p>
        </p:txBody>
      </p:sp>
      <p:sp>
        <p:nvSpPr>
          <p:cNvPr id="19" name="Shape 17"/>
          <p:cNvSpPr/>
          <p:nvPr/>
        </p:nvSpPr>
        <p:spPr>
          <a:xfrm>
            <a:off x="1143000" y="7487841"/>
            <a:ext cx="1840260" cy="390525"/>
          </a:xfrm>
          <a:prstGeom prst="roundRect">
            <a:avLst>
              <a:gd name="adj" fmla="val 50000"/>
            </a:avLst>
          </a:prstGeom>
          <a:solidFill>
            <a:srgbClr val="131E1A"/>
          </a:solidFill>
          <a:ln w="9525">
            <a:solidFill>
              <a:srgbClr val="1D282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43025" y="7573566"/>
            <a:ext cx="151641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FB0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 Center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3097560" y="7487841"/>
            <a:ext cx="2148929" cy="390525"/>
          </a:xfrm>
          <a:prstGeom prst="roundRect">
            <a:avLst>
              <a:gd name="adj" fmla="val 50000"/>
            </a:avLst>
          </a:prstGeom>
          <a:solidFill>
            <a:srgbClr val="131E1A"/>
          </a:solidFill>
          <a:ln w="9525">
            <a:solidFill>
              <a:srgbClr val="1D282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7585" y="7573566"/>
            <a:ext cx="182507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FB0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Findings explorer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360789" y="7487841"/>
            <a:ext cx="2251770" cy="390525"/>
          </a:xfrm>
          <a:prstGeom prst="roundRect">
            <a:avLst>
              <a:gd name="adj" fmla="val 50000"/>
            </a:avLst>
          </a:prstGeom>
          <a:solidFill>
            <a:srgbClr val="131E1A"/>
          </a:solidFill>
          <a:ln w="9525">
            <a:solidFill>
              <a:srgbClr val="1D282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60814" y="7573566"/>
            <a:ext cx="19279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FB0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 Paths graph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726859" y="7487841"/>
            <a:ext cx="914400" cy="390525"/>
          </a:xfrm>
          <a:prstGeom prst="roundRect">
            <a:avLst>
              <a:gd name="adj" fmla="val 50000"/>
            </a:avLst>
          </a:prstGeom>
          <a:solidFill>
            <a:srgbClr val="131E1A"/>
          </a:solidFill>
          <a:ln w="9525">
            <a:solidFill>
              <a:srgbClr val="1D282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26884" y="7573566"/>
            <a:ext cx="5905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FB0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Teams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8755559" y="7487841"/>
            <a:ext cx="1531739" cy="390525"/>
          </a:xfrm>
          <a:prstGeom prst="roundRect">
            <a:avLst>
              <a:gd name="adj" fmla="val 50000"/>
            </a:avLst>
          </a:prstGeom>
          <a:solidFill>
            <a:srgbClr val="131E1A"/>
          </a:solidFill>
          <a:ln w="9525">
            <a:solidFill>
              <a:srgbClr val="1D282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55584" y="7573566"/>
            <a:ext cx="12078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FB0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Correlation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10401598" y="7487841"/>
            <a:ext cx="1428750" cy="390525"/>
          </a:xfrm>
          <a:prstGeom prst="roundRect">
            <a:avLst>
              <a:gd name="adj" fmla="val 50000"/>
            </a:avLst>
          </a:prstGeom>
          <a:solidFill>
            <a:srgbClr val="131E1A"/>
          </a:solidFill>
          <a:ln w="9525">
            <a:solidFill>
              <a:srgbClr val="1D282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01623" y="7573566"/>
            <a:ext cx="11049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FB0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Compliance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11944648" y="7487841"/>
            <a:ext cx="2868960" cy="390525"/>
          </a:xfrm>
          <a:prstGeom prst="roundRect">
            <a:avLst>
              <a:gd name="adj" fmla="val 50000"/>
            </a:avLst>
          </a:prstGeom>
          <a:solidFill>
            <a:srgbClr val="131E1A"/>
          </a:solidFill>
          <a:ln w="9525">
            <a:solidFill>
              <a:srgbClr val="1D282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144673" y="7573566"/>
            <a:ext cx="255497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FB0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Grounded AI Analyst chat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14927907" y="7487841"/>
            <a:ext cx="2148929" cy="390525"/>
          </a:xfrm>
          <a:prstGeom prst="roundRect">
            <a:avLst>
              <a:gd name="adj" fmla="val 50000"/>
            </a:avLst>
          </a:prstGeom>
          <a:solidFill>
            <a:srgbClr val="131E1A"/>
          </a:solidFill>
          <a:ln w="9525">
            <a:solidFill>
              <a:srgbClr val="1D282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5127932" y="7573566"/>
            <a:ext cx="182507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FB0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Verification page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671" y="4183261"/>
            <a:ext cx="8572500" cy="8572500"/>
          </a:xfrm>
          <a:prstGeom prst="ellipse">
            <a:avLst/>
          </a:prstGeom>
          <a:gradFill rotWithShape="1">
            <a:gsLst>
              <a:gs pos="0">
                <a:srgbClr val="0B5A48">
                  <a:alpha val="34000"/>
                </a:srgbClr>
              </a:gs>
              <a:gs pos="66000">
                <a:srgbClr val="0B5A4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2587675"/>
            <a:ext cx="17602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55A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WHAT I’M ASKING FROM YOU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43000" y="3054400"/>
            <a:ext cx="17602200" cy="795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400"/>
              </a:lnSpc>
              <a:buNone/>
            </a:pPr>
            <a:r>
              <a:rPr lang="en-US" sz="5850" b="1" dirty="0">
                <a:gradFill rotWithShape="1">
                  <a:gsLst>
                    <a:gs pos="34000">
                      <a:srgbClr val="E9EFEC">
                        <a:alpha val="100000"/>
                      </a:srgbClr>
                    </a:gs>
                    <a:gs pos="100000">
                      <a:srgbClr val="7FD0AD">
                        <a:alpha val="100000"/>
                      </a:srgbClr>
                    </a:gs>
                  </a:gsLst>
                  <a:lin ang="120000" scaled="0"/>
                </a:gradFill>
                <a:latin typeface="Georgia" pitchFamily="34" charset="0"/>
                <a:ea typeface="Georgia" pitchFamily="34" charset="-122"/>
                <a:cs typeface="Georgia" pitchFamily="34" charset="-120"/>
              </a:rPr>
              <a:t>Back the production rollout</a:t>
            </a:r>
            <a:endParaRPr lang="en-US" sz="5850" dirty="0"/>
          </a:p>
        </p:txBody>
      </p:sp>
      <p:sp>
        <p:nvSpPr>
          <p:cNvPr id="5" name="Text 3"/>
          <p:cNvSpPr/>
          <p:nvPr/>
        </p:nvSpPr>
        <p:spPr>
          <a:xfrm>
            <a:off x="1143000" y="4040684"/>
            <a:ext cx="11790069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9FB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Ghrab VOC works today and proves itself against a held-out answer key. To run it as core infrastructure, I’m asking for support to harden it for production and connect it to more of our data.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143000" y="5695950"/>
            <a:ext cx="5168801" cy="2003227"/>
          </a:xfrm>
          <a:prstGeom prst="roundRect">
            <a:avLst>
              <a:gd name="adj" fmla="val 5706"/>
            </a:avLst>
          </a:prstGeom>
          <a:solidFill>
            <a:srgbClr val="0E1614"/>
          </a:solidFill>
          <a:ln w="9525">
            <a:solidFill>
              <a:srgbClr val="2A3833"/>
            </a:solidFill>
            <a:prstDash val="solid"/>
          </a:ln>
          <a:effectLst>
            <a:outerShdw sx="100000" sy="100000" kx="0" ky="0" algn="bl" rotWithShape="0" blurRad="101600" dist="50800" dir="16200000">
              <a:srgbClr val="55A185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495425" y="6048375"/>
            <a:ext cx="491034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E9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hardening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1495425" y="6477000"/>
            <a:ext cx="4597869" cy="907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1575" dirty="0">
                <a:solidFill>
                  <a:srgbClr val="9FB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Postgres, Redis, background job workers, single sign-on (OIDC) and a centralized LLM gateway — the plumbing that makes it enterprise-grade.</a:t>
            </a:r>
            <a:endParaRPr lang="en-US" sz="1575" dirty="0"/>
          </a:p>
        </p:txBody>
      </p:sp>
      <p:sp>
        <p:nvSpPr>
          <p:cNvPr id="9" name="Shape 7"/>
          <p:cNvSpPr/>
          <p:nvPr/>
        </p:nvSpPr>
        <p:spPr>
          <a:xfrm>
            <a:off x="6559451" y="5695950"/>
            <a:ext cx="5168950" cy="2003227"/>
          </a:xfrm>
          <a:prstGeom prst="roundRect">
            <a:avLst>
              <a:gd name="adj" fmla="val 5706"/>
            </a:avLst>
          </a:prstGeom>
          <a:solidFill>
            <a:srgbClr val="0E1614"/>
          </a:solidFill>
          <a:ln w="9525">
            <a:solidFill>
              <a:srgbClr val="1D282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11876" y="6048375"/>
            <a:ext cx="49105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E9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Continuous re-scans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6911876" y="6477000"/>
            <a:ext cx="4598023" cy="907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1575" dirty="0">
                <a:solidFill>
                  <a:srgbClr val="9FB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Scheduled, automatic re-analysis so the attack-path picture stays current between manual reviews.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11976050" y="5695950"/>
            <a:ext cx="5168950" cy="2003227"/>
          </a:xfrm>
          <a:prstGeom prst="roundRect">
            <a:avLst>
              <a:gd name="adj" fmla="val 5706"/>
            </a:avLst>
          </a:prstGeom>
          <a:solidFill>
            <a:srgbClr val="0E1614"/>
          </a:solidFill>
          <a:ln w="9525">
            <a:solidFill>
              <a:srgbClr val="1D282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28475" y="6048375"/>
            <a:ext cx="49105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E9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data connectors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12328475" y="6477000"/>
            <a:ext cx="4598023" cy="907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1575" dirty="0">
                <a:solidFill>
                  <a:srgbClr val="9FB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feeds from more scanners and inventory sources, so coverage grows without manual exports.</a:t>
            </a:r>
            <a:endParaRPr lang="en-US" sz="15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05250" y="-712589"/>
            <a:ext cx="10477500" cy="10477500"/>
          </a:xfrm>
          <a:prstGeom prst="ellipse">
            <a:avLst/>
          </a:prstGeom>
          <a:gradFill rotWithShape="1">
            <a:gsLst>
              <a:gs pos="0">
                <a:srgbClr val="0B5A48">
                  <a:alpha val="38000"/>
                </a:srgbClr>
              </a:gs>
              <a:gs pos="46000">
                <a:srgbClr val="55A185">
                  <a:alpha val="5000"/>
                </a:srgbClr>
              </a:gs>
              <a:gs pos="68000">
                <a:srgbClr val="55A18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19976" y="2566095"/>
            <a:ext cx="1047750" cy="1047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99284" y="4032945"/>
            <a:ext cx="6289283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842"/>
              </a:lnSpc>
              <a:buNone/>
            </a:pPr>
            <a:r>
              <a:rPr lang="en-US" sz="4950" b="1" dirty="0">
                <a:solidFill>
                  <a:srgbClr val="E9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Ghrab</a:t>
            </a:r>
            <a:endParaRPr lang="en-US" sz="4950" dirty="0"/>
          </a:p>
        </p:txBody>
      </p:sp>
      <p:sp>
        <p:nvSpPr>
          <p:cNvPr id="5" name="Text 2"/>
          <p:cNvSpPr/>
          <p:nvPr/>
        </p:nvSpPr>
        <p:spPr>
          <a:xfrm>
            <a:off x="5999284" y="4813995"/>
            <a:ext cx="628928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spc="264" kern="0" dirty="0">
                <a:solidFill>
                  <a:srgbClr val="6C7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— VULNERABILITY OPERATIONS CENTER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907000" y="5528370"/>
            <a:ext cx="4473702" cy="14494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2273"/>
              </a:lnSpc>
              <a:buNone/>
            </a:pPr>
            <a:r>
              <a:rPr lang="en-US" sz="2850" dirty="0">
                <a:solidFill>
                  <a:srgbClr val="9FB0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operations center that thinks in attack paths, not findings.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5999284" y="7473107"/>
            <a:ext cx="628928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spc="120" kern="0" dirty="0">
                <a:solidFill>
                  <a:srgbClr val="55A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غراب · the raven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2026-07-20T16:19:40Z</dcterms:created>
  <dcterms:modified xsi:type="dcterms:W3CDTF">2026-07-20T16:19:40Z</dcterms:modified>
</cp:coreProperties>
</file>