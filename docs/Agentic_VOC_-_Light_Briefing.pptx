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40">
                <a:solidFill>
                  <a:srgbClr val="0E9E7D"/>
                </a:solidFill>
                <a:latin typeface="Consolas"/>
              </a:rPr>
              <a:t>FOR THE LEADERSHIP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5000" b="1" i="0">
                <a:solidFill>
                  <a:srgbClr val="111E27"/>
                </a:solidFill>
                <a:latin typeface="Georgia"/>
              </a:rPr>
              <a:t>Thousands of alerts.</a:t>
            </a:r>
          </a:p>
          <a:p>
            <a:pPr algn="l">
              <a:lnSpc>
                <a:spcPct val="103000"/>
              </a:lnSpc>
            </a:pPr>
            <a:r>
              <a:rPr sz="5000" b="1" i="0">
                <a:solidFill>
                  <a:srgbClr val="111E27"/>
                </a:solidFill>
                <a:latin typeface="Georgia"/>
              </a:rPr>
              <a:t>A handful that actually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4C5B62"/>
                </a:solidFill>
                <a:latin typeface="Calibri"/>
              </a:rPr>
              <a:t>We built a system that finds the few real threats hidden in the noise — and tells your team the single fix that closes the most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66360"/>
            <a:ext cx="2880360" cy="502920"/>
          </a:xfrm>
          <a:prstGeom prst="roundRect">
            <a:avLst>
              <a:gd name="adj" fmla="val 50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2880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6E57"/>
                </a:solidFill>
                <a:latin typeface="Calibri"/>
              </a:rPr>
              <a:t>Do more with the same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5166360"/>
            <a:ext cx="2208276" cy="502920"/>
          </a:xfrm>
          <a:prstGeom prst="roundRect">
            <a:avLst>
              <a:gd name="adj" fmla="val 50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5166360"/>
            <a:ext cx="22082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6E57"/>
                </a:solidFill>
                <a:latin typeface="Calibri"/>
              </a:rPr>
              <a:t>Fix smarter, faster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7356" y="5166360"/>
            <a:ext cx="2976372" cy="502920"/>
          </a:xfrm>
          <a:prstGeom prst="roundRect">
            <a:avLst>
              <a:gd name="adj" fmla="val 50000"/>
            </a:avLst>
          </a:prstGeom>
          <a:solidFill>
            <a:srgbClr val="F6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7356" y="5166360"/>
            <a:ext cx="29763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97A14"/>
                </a:solidFill>
                <a:latin typeface="Calibri"/>
              </a:rPr>
              <a:t>Ready to take to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849298"/>
                </a:solidFill>
                <a:latin typeface="Consolas"/>
              </a:rPr>
              <a:t>AGENTIC VOC  ·  THE VALUE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49298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20">
                <a:solidFill>
                  <a:srgbClr val="0E9E7D"/>
                </a:solidFill>
                <a:latin typeface="Consolas"/>
              </a:rPr>
              <a:t>WHERE WE ARE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111E27"/>
                </a:solidFill>
                <a:latin typeface="Georgia"/>
              </a:rPr>
              <a:t>The team is buried — and the real threat hides in the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C5B62"/>
                </a:solidFill>
                <a:latin typeface="Calibri"/>
              </a:rPr>
              <a:t>Security scanners produce thousands of warnings. People sort them by a risk score — but that score can't see how an attacker chains small, ordinary gaps into a real break-in.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97480"/>
            <a:ext cx="3502152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971800"/>
            <a:ext cx="640080" cy="640080"/>
          </a:xfrm>
          <a:prstGeom prst="ellipse">
            <a:avLst/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11E27"/>
                </a:solidFill>
                <a:latin typeface="Calibri"/>
              </a:rP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11E27"/>
                </a:solidFill>
                <a:latin typeface="Georgia"/>
              </a:rPr>
              <a:t>Too much to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C5B62"/>
                </a:solidFill>
                <a:latin typeface="Calibri"/>
              </a:rPr>
              <a:t>Thousands of warnings every scan. No team can review them all, so most are never looked 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697480"/>
            <a:ext cx="3502152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2" y="2971800"/>
            <a:ext cx="640080" cy="640080"/>
          </a:xfrm>
          <a:prstGeom prst="ellipse">
            <a:avLst/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971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11E27"/>
                </a:solidFill>
                <a:latin typeface="Calibr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79476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11E27"/>
                </a:solidFill>
                <a:latin typeface="Georgia"/>
              </a:rPr>
              <a:t>Sorted by the wrong 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480560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C5B62"/>
                </a:solidFill>
                <a:latin typeface="Calibri"/>
              </a:rPr>
              <a:t>A high score on one machine can matter less than three "medium" gaps that chain into a breach.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2697480"/>
            <a:ext cx="3502152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30184" y="2971800"/>
            <a:ext cx="640080" cy="640080"/>
          </a:xfrm>
          <a:prstGeom prst="ellipse">
            <a:avLst/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2971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11E27"/>
                </a:solidFill>
                <a:latin typeface="Calibri"/>
              </a:rPr>
              <a:t>⏱️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379476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11E27"/>
                </a:solidFill>
                <a:latin typeface="Georgia"/>
              </a:rPr>
              <a:t>Effort in the wrong 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4480560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C5B62"/>
                </a:solidFill>
                <a:latin typeface="Calibri"/>
              </a:rPr>
              <a:t>Time goes to sorting, not fixing — and the one dangerous route can sit unnoticed for weeks.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623560"/>
            <a:ext cx="10817352" cy="548640"/>
          </a:xfrm>
          <a:prstGeom prst="roundRect">
            <a:avLst>
              <a:gd name="adj" fmla="val 30000"/>
            </a:avLst>
          </a:prstGeom>
          <a:solidFill>
            <a:srgbClr val="F7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E3E2B"/>
                </a:solidFill>
                <a:latin typeface="Calibri"/>
              </a:rPr>
              <a:t>The result: wasted hours, and a false sense of safety.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849298"/>
                </a:solidFill>
                <a:latin typeface="Consolas"/>
              </a:rPr>
              <a:t>AGENTIC VOC  ·  THE VALUE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4929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20">
                <a:solidFill>
                  <a:srgbClr val="0E9E7D"/>
                </a:solidFill>
                <a:latin typeface="Consolas"/>
              </a:rPr>
              <a:t>WHAT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111E27"/>
                </a:solidFill>
                <a:latin typeface="Georgia"/>
              </a:rPr>
              <a:t>From a pile of alerts to a short list of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C5B62"/>
                </a:solidFill>
                <a:latin typeface="Calibri"/>
              </a:rPr>
              <a:t>The system reads everything, connects the dots the way an attacker would, and hands your team what to act on first — in plain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4297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200">
                <a:solidFill>
                  <a:srgbClr val="849298"/>
                </a:solidFill>
                <a:latin typeface="Consolas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1E27"/>
                </a:solidFill>
                <a:latin typeface="Georgia"/>
              </a:rPr>
              <a:t>Thousands of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66160"/>
            <a:ext cx="3840480" cy="146304"/>
          </a:xfrm>
          <a:prstGeom prst="roundRect">
            <a:avLst>
              <a:gd name="adj" fmla="val 40000"/>
            </a:avLst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803904"/>
            <a:ext cx="3840480" cy="146304"/>
          </a:xfrm>
          <a:prstGeom prst="roundRect">
            <a:avLst>
              <a:gd name="adj" fmla="val 40000"/>
            </a:avLst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041648"/>
            <a:ext cx="3840480" cy="146304"/>
          </a:xfrm>
          <a:prstGeom prst="roundRect">
            <a:avLst>
              <a:gd name="adj" fmla="val 40000"/>
            </a:avLst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279392"/>
            <a:ext cx="3840480" cy="146304"/>
          </a:xfrm>
          <a:prstGeom prst="roundRect">
            <a:avLst>
              <a:gd name="adj" fmla="val 40000"/>
            </a:avLst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517136"/>
            <a:ext cx="3840480" cy="146304"/>
          </a:xfrm>
          <a:prstGeom prst="roundRect">
            <a:avLst>
              <a:gd name="adj" fmla="val 40000"/>
            </a:avLst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754880"/>
            <a:ext cx="3840480" cy="146304"/>
          </a:xfrm>
          <a:prstGeom prst="roundRect">
            <a:avLst>
              <a:gd name="adj" fmla="val 40000"/>
            </a:avLst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992624"/>
            <a:ext cx="3840480" cy="146304"/>
          </a:xfrm>
          <a:prstGeom prst="roundRect">
            <a:avLst>
              <a:gd name="adj" fmla="val 40000"/>
            </a:avLst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230368"/>
            <a:ext cx="3840480" cy="146304"/>
          </a:xfrm>
          <a:prstGeom prst="roundRect">
            <a:avLst>
              <a:gd name="adj" fmla="val 40000"/>
            </a:avLst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468112"/>
            <a:ext cx="3840480" cy="146304"/>
          </a:xfrm>
          <a:prstGeom prst="roundRect">
            <a:avLst>
              <a:gd name="adj" fmla="val 40000"/>
            </a:avLst>
          </a:prstGeom>
          <a:solidFill>
            <a:srgbClr val="E5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166360" y="4160520"/>
            <a:ext cx="1691640" cy="0"/>
          </a:xfrm>
          <a:prstGeom prst="line">
            <a:avLst/>
          </a:prstGeom>
          <a:ln w="38100">
            <a:solidFill>
              <a:srgbClr val="0E9E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20640" y="3657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A6E57"/>
                </a:solidFill>
                <a:latin typeface="Consolas"/>
              </a:rPr>
              <a:t>the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2514600"/>
            <a:ext cx="4297680" cy="3291840"/>
          </a:xfrm>
          <a:prstGeom prst="roundRect">
            <a:avLst>
              <a:gd name="adj" fmla="val 5000"/>
            </a:avLst>
          </a:prstGeom>
          <a:solidFill>
            <a:srgbClr val="DDF2EC"/>
          </a:solidFill>
          <a:ln w="19050">
            <a:solidFill>
              <a:srgbClr val="0E9E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6974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150">
                <a:solidFill>
                  <a:srgbClr val="0A6E57"/>
                </a:solidFill>
                <a:latin typeface="Consolas"/>
              </a:rPr>
              <a:t>WITH THE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9718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1E27"/>
                </a:solidFill>
                <a:latin typeface="Georgia"/>
              </a:rPr>
              <a:t>A ranked action 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3611880"/>
            <a:ext cx="3840480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3611880"/>
            <a:ext cx="50800" cy="512064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3611880"/>
            <a:ext cx="3566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E27"/>
                </a:solidFill>
                <a:latin typeface="Calibri"/>
              </a:rPr>
              <a:t>The real routes into critical systems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4270248"/>
            <a:ext cx="3840480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4270248"/>
            <a:ext cx="50800" cy="512064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4270248"/>
            <a:ext cx="3566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E27"/>
                </a:solidFill>
                <a:latin typeface="Calibri"/>
              </a:rPr>
              <a:t>Ranked by actual danger, not 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4928616"/>
            <a:ext cx="3840480" cy="51206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4928616"/>
            <a:ext cx="50800" cy="512064"/>
          </a:xfrm>
          <a:prstGeom prst="rect">
            <a:avLst/>
          </a:prstGeom>
          <a:solidFill>
            <a:srgbClr val="B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4928616"/>
            <a:ext cx="35661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E27"/>
                </a:solidFill>
                <a:latin typeface="Calibri"/>
              </a:rPr>
              <a:t>The one fix that closes the most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849298"/>
                </a:solidFill>
                <a:latin typeface="Consolas"/>
              </a:rPr>
              <a:t>AGENTIC VOC  ·  THE VALUE CASE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4929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20">
                <a:solidFill>
                  <a:srgbClr val="0E9E7D"/>
                </a:solidFill>
                <a:latin typeface="Consolas"/>
              </a:rPr>
              <a:t>THE VALUE — IN THE NUMBERS YOU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111E27"/>
                </a:solidFill>
                <a:latin typeface="Georgia"/>
              </a:rPr>
              <a:t>Same team. More closed. Faster.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6E57"/>
                </a:solidFill>
                <a:latin typeface="Georgia"/>
              </a:rPr>
              <a:t>Do more with the same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309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523744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8716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9E7D"/>
                </a:solidFill>
                <a:latin typeface="Calibri"/>
              </a:rP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68880"/>
            <a:ext cx="4187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11E27"/>
                </a:solidFill>
                <a:latin typeface="Georgia"/>
              </a:rPr>
              <a:t>Time from alert to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89504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C5B62"/>
                </a:solidFill>
                <a:latin typeface="Calibri"/>
              </a:rPr>
              <a:t>Hours of manual sorting → a ready, ranked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93008"/>
            <a:ext cx="53309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" y="37307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941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9E7D"/>
                </a:solidFill>
                <a:latin typeface="Calibri"/>
              </a:rPr>
              <a:t>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75888"/>
            <a:ext cx="4187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11E27"/>
                </a:solidFill>
                <a:latin typeface="Georgia"/>
              </a:rPr>
              <a:t>Analyst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96512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C5B62"/>
                </a:solidFill>
                <a:latin typeface="Calibri"/>
              </a:rPr>
              <a:t>Effort spent on the few things that matter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00016"/>
            <a:ext cx="53309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493776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9011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9E7D"/>
                </a:solidFill>
                <a:latin typeface="Calibri"/>
              </a:rPr>
              <a:t>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82896"/>
            <a:ext cx="4187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11E27"/>
                </a:solidFill>
                <a:latin typeface="Georgia"/>
              </a:rPr>
              <a:t>Real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303520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C5B62"/>
                </a:solidFill>
                <a:latin typeface="Calibri"/>
              </a:rPr>
              <a:t>Nothing dangerous left buried and ignored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83080"/>
            <a:ext cx="5330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6E57"/>
                </a:solidFill>
                <a:latin typeface="Georgia"/>
              </a:rPr>
              <a:t>Fix smarter &amp; faster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286000"/>
            <a:ext cx="53309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73368" y="2523744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48716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9E7D"/>
                </a:solidFill>
                <a:latin typeface="Calibri"/>
              </a:rP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468880"/>
            <a:ext cx="4187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11E27"/>
                </a:solidFill>
                <a:latin typeface="Georgia"/>
              </a:rPr>
              <a:t>Time to remediate (MTTR)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889504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C5B62"/>
                </a:solidFill>
                <a:latin typeface="Calibri"/>
              </a:rPr>
              <a:t>Act on the right fix immediately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493008"/>
            <a:ext cx="53309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73368" y="373075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6941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9E7D"/>
                </a:solidFill>
                <a:latin typeface="Calibri"/>
              </a:rPr>
              <a:t>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675888"/>
            <a:ext cx="4187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11E27"/>
                </a:solidFill>
                <a:latin typeface="Georgia"/>
              </a:rPr>
              <a:t>Risk closed per fix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96512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C5B62"/>
                </a:solidFill>
                <a:latin typeface="Calibri"/>
              </a:rPr>
              <a:t>One fix can sever many attack routes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700016"/>
            <a:ext cx="533095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73368" y="493776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9011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9E7D"/>
                </a:solidFill>
                <a:latin typeface="Calibri"/>
              </a:rPr>
              <a:t>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882896"/>
            <a:ext cx="41879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111E27"/>
                </a:solidFill>
                <a:latin typeface="Georgia"/>
              </a:rPr>
              <a:t>Wasted rework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303520"/>
            <a:ext cx="4187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C5B62"/>
                </a:solidFill>
                <a:latin typeface="Calibri"/>
              </a:rPr>
              <a:t>Fix the choke point, not everything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49298"/>
                </a:solidFill>
                <a:latin typeface="Consolas"/>
              </a:rPr>
              <a:t>Direction of impact on the KPIs your team already reports. Green = improvement.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849298"/>
                </a:solidFill>
                <a:latin typeface="Consolas"/>
              </a:rPr>
              <a:t>AGENTIC VOC  ·  THE VALUE CASE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4929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20">
                <a:solidFill>
                  <a:srgbClr val="0E9E7D"/>
                </a:solidFill>
                <a:latin typeface="Consolas"/>
              </a:rPr>
              <a:t>AND BEYOND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111E27"/>
                </a:solidFill>
                <a:latin typeface="Georgia"/>
              </a:rPr>
              <a:t>Three things leadership gets for free.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502152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423160"/>
            <a:ext cx="731520" cy="731520"/>
          </a:xfrm>
          <a:prstGeom prst="ellipse">
            <a:avLst/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6E57"/>
                </a:solidFill>
                <a:latin typeface="Calibri"/>
              </a:rPr>
              <a:t>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862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11E27"/>
                </a:solidFill>
                <a:latin typeface="Georgia"/>
              </a:rPr>
              <a:t>Explained in plain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28620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5B62"/>
                </a:solidFill>
                <a:latin typeface="Calibri"/>
              </a:rPr>
              <a:t>Every result comes with a why, in words anyone can read — not a wall of technical codes. Brief your board without a translator.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03120"/>
            <a:ext cx="3502152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90872" y="2423160"/>
            <a:ext cx="731520" cy="731520"/>
          </a:xfrm>
          <a:prstGeom prst="ellipse">
            <a:avLst/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42316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6E57"/>
                </a:solidFill>
                <a:latin typeface="Calibri"/>
              </a:rPr>
              <a:t>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383280"/>
            <a:ext cx="2862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11E27"/>
                </a:solidFill>
                <a:latin typeface="Georgia"/>
              </a:rPr>
              <a:t>Always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4114800"/>
            <a:ext cx="28620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5B62"/>
                </a:solidFill>
                <a:latin typeface="Calibri"/>
              </a:rPr>
              <a:t>It re-checks continuously, so the risk picture stays current instead of a snapshot that ages the day after a scan.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103120"/>
            <a:ext cx="3502152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75904" y="2423160"/>
            <a:ext cx="731520" cy="731520"/>
          </a:xfrm>
          <a:prstGeom prst="ellipse">
            <a:avLst/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42316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6E57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383280"/>
            <a:ext cx="2862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11E27"/>
                </a:solidFill>
                <a:latin typeface="Georgia"/>
              </a:rPr>
              <a:t>Audit-ready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4114800"/>
            <a:ext cx="28620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5B62"/>
                </a:solidFill>
                <a:latin typeface="Calibri"/>
              </a:rPr>
              <a:t>A clear, defensible trail of what was found and why — ready for auditors, regulators, and executives on demand.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849298"/>
                </a:solidFill>
                <a:latin typeface="Consolas"/>
              </a:rPr>
              <a:t>AGENTIC VOC  ·  THE VALUE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4929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B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20">
                <a:solidFill>
                  <a:srgbClr val="B97A14"/>
                </a:solidFill>
                <a:latin typeface="Consolas"/>
              </a:rPr>
              <a:t>FROM PROTOTYPE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111E27"/>
                </a:solidFill>
                <a:latin typeface="Georgia"/>
              </a:rPr>
              <a:t>What it takes to put this to work — for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C5B62"/>
                </a:solidFill>
                <a:latin typeface="Calibri"/>
              </a:rPr>
              <a:t>Today it's a working prototype. To run it safely for every team, day in and day out, we need five things — standard building blocks, nothing exotic.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2048256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468880"/>
            <a:ext cx="2048256" cy="50800"/>
          </a:xfrm>
          <a:prstGeom prst="rect">
            <a:avLst/>
          </a:prstGeom>
          <a:solidFill>
            <a:srgbClr val="B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2697480"/>
            <a:ext cx="603504" cy="603504"/>
          </a:xfrm>
          <a:prstGeom prst="ellipse">
            <a:avLst/>
          </a:prstGeom>
          <a:solidFill>
            <a:srgbClr val="F6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69748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97A14"/>
                </a:solidFill>
                <a:latin typeface="Calibri"/>
              </a:rPr>
              <a:t>🗄️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2900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E27"/>
                </a:solidFill>
                <a:latin typeface="Georgia"/>
              </a:rPr>
              <a:t>Reliable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114800"/>
            <a:ext cx="1645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A proper database, secure file storage, and hosting — so data is safe, backed up, and always available.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2468880"/>
            <a:ext cx="2048256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62072" y="2468880"/>
            <a:ext cx="2048256" cy="50800"/>
          </a:xfrm>
          <a:prstGeom prst="rect">
            <a:avLst/>
          </a:prstGeom>
          <a:solidFill>
            <a:srgbClr val="B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63240" y="2697480"/>
            <a:ext cx="603504" cy="603504"/>
          </a:xfrm>
          <a:prstGeom prst="ellipse">
            <a:avLst/>
          </a:prstGeom>
          <a:solidFill>
            <a:srgbClr val="F6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69748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97A14"/>
                </a:solidFill>
                <a:latin typeface="Calibri"/>
              </a:rP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42900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E27"/>
                </a:solidFill>
                <a:latin typeface="Georgia"/>
              </a:rPr>
              <a:t>Security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114800"/>
            <a:ext cx="1645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Company sign-in, roles (who can see and do what), and a full audit trail of every 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8344" y="2468880"/>
            <a:ext cx="2048256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8344" y="2468880"/>
            <a:ext cx="2048256" cy="50800"/>
          </a:xfrm>
          <a:prstGeom prst="rect">
            <a:avLst/>
          </a:prstGeom>
          <a:solidFill>
            <a:srgbClr val="B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39512" y="2697480"/>
            <a:ext cx="603504" cy="603504"/>
          </a:xfrm>
          <a:prstGeom prst="ellipse">
            <a:avLst/>
          </a:prstGeom>
          <a:solidFill>
            <a:srgbClr val="F6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9512" y="269748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97A14"/>
                </a:solidFill>
                <a:latin typeface="Calibri"/>
              </a:rPr>
              <a:t>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342900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E27"/>
                </a:solidFill>
                <a:latin typeface="Georgia"/>
              </a:rPr>
              <a:t>Governed AI spending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4114800"/>
            <a:ext cx="1645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A single, controlled gateway for the AI with a spending cap per team — no surprises, full oversight.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14616" y="2468880"/>
            <a:ext cx="2048256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14616" y="2468880"/>
            <a:ext cx="2048256" cy="50800"/>
          </a:xfrm>
          <a:prstGeom prst="rect">
            <a:avLst/>
          </a:prstGeom>
          <a:solidFill>
            <a:srgbClr val="B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15784" y="2697480"/>
            <a:ext cx="603504" cy="603504"/>
          </a:xfrm>
          <a:prstGeom prst="ellipse">
            <a:avLst/>
          </a:prstGeom>
          <a:solidFill>
            <a:srgbClr val="F6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5784" y="269748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97A14"/>
                </a:solidFill>
                <a:latin typeface="Calibri"/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342900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E27"/>
                </a:solidFill>
                <a:latin typeface="Georgia"/>
              </a:rPr>
              <a:t>Reliability at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4" y="4114800"/>
            <a:ext cx="1645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Work runs in the background and is monitored, so many teams can use it at once without slowdowns.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90888" y="2468880"/>
            <a:ext cx="2048256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5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90888" y="2468880"/>
            <a:ext cx="2048256" cy="50800"/>
          </a:xfrm>
          <a:prstGeom prst="rect">
            <a:avLst/>
          </a:prstGeom>
          <a:solidFill>
            <a:srgbClr val="B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92056" y="2697480"/>
            <a:ext cx="603504" cy="603504"/>
          </a:xfrm>
          <a:prstGeom prst="ellipse">
            <a:avLst/>
          </a:prstGeom>
          <a:solidFill>
            <a:srgbClr val="F6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2056" y="269748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97A14"/>
                </a:solidFill>
                <a:latin typeface="Calibri"/>
              </a:rPr>
              <a:t>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2056" y="342900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E27"/>
                </a:solidFill>
                <a:latin typeface="Georgia"/>
              </a:rPr>
              <a:t>A small delivery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2056" y="4114800"/>
            <a:ext cx="1645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A focused effort to harden, secure, and roll it out in stages — with testing at every step.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849298"/>
                </a:solidFill>
                <a:latin typeface="Consolas"/>
              </a:rPr>
              <a:t>AGENTIC VOC  ·  THE VALUE 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4929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48640"/>
            <a:ext cx="274320" cy="31750"/>
          </a:xfrm>
          <a:prstGeom prst="rect">
            <a:avLst/>
          </a:prstGeom>
          <a:solidFill>
            <a:srgbClr val="B9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20">
                <a:solidFill>
                  <a:srgbClr val="B97A14"/>
                </a:solidFill>
                <a:latin typeface="Consolas"/>
              </a:rPr>
              <a:t>HOW WE GET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111E27"/>
                </a:solidFill>
                <a:latin typeface="Georgia"/>
              </a:rPr>
              <a:t>A staged rollout — value early, risk 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C5B62"/>
                </a:solidFill>
                <a:latin typeface="Calibri"/>
              </a:rPr>
              <a:t>Each stage stands on its own and is tested before the next begins. No big-bang launch.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3108960"/>
            <a:ext cx="9784080" cy="0"/>
          </a:xfrm>
          <a:prstGeom prst="line">
            <a:avLst/>
          </a:prstGeom>
          <a:ln w="25400">
            <a:solidFill>
              <a:srgbClr val="BFCC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115568" y="2807208"/>
            <a:ext cx="603504" cy="603504"/>
          </a:xfrm>
          <a:prstGeom prst="ellipse">
            <a:avLst/>
          </a:prstGeom>
          <a:solidFill>
            <a:srgbClr val="B97A14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80720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1" y="3611880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11E27"/>
                </a:solidFill>
                <a:latin typeface="Georgia"/>
              </a:rPr>
              <a:t>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1" y="4160520"/>
            <a:ext cx="18745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Harden the prototype and add automated testing.</a:t>
            </a:r>
          </a:p>
        </p:txBody>
      </p:sp>
      <p:sp>
        <p:nvSpPr>
          <p:cNvPr id="12" name="Oval 11"/>
          <p:cNvSpPr/>
          <p:nvPr/>
        </p:nvSpPr>
        <p:spPr>
          <a:xfrm>
            <a:off x="3401568" y="2807208"/>
            <a:ext cx="603504" cy="603504"/>
          </a:xfrm>
          <a:prstGeom prst="ellipse">
            <a:avLst/>
          </a:prstGeom>
          <a:solidFill>
            <a:srgbClr val="B97A14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280720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6061" y="3611880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11E27"/>
                </a:solidFill>
                <a:latin typeface="Georgia"/>
              </a:rPr>
              <a:t>Reliable data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6061" y="4160520"/>
            <a:ext cx="18745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Move to a proper database and secure storage.</a:t>
            </a:r>
          </a:p>
        </p:txBody>
      </p:sp>
      <p:sp>
        <p:nvSpPr>
          <p:cNvPr id="16" name="Oval 15"/>
          <p:cNvSpPr/>
          <p:nvPr/>
        </p:nvSpPr>
        <p:spPr>
          <a:xfrm>
            <a:off x="5687568" y="2807208"/>
            <a:ext cx="603504" cy="603504"/>
          </a:xfrm>
          <a:prstGeom prst="ellipse">
            <a:avLst/>
          </a:prstGeom>
          <a:solidFill>
            <a:srgbClr val="B97A14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280720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2061" y="3611880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11E27"/>
                </a:solidFill>
                <a:latin typeface="Georgia"/>
              </a:rPr>
              <a:t>Security &amp;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2061" y="4160520"/>
            <a:ext cx="18745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Company sign-in, roles, and full audit trail.</a:t>
            </a:r>
          </a:p>
        </p:txBody>
      </p:sp>
      <p:sp>
        <p:nvSpPr>
          <p:cNvPr id="20" name="Oval 19"/>
          <p:cNvSpPr/>
          <p:nvPr/>
        </p:nvSpPr>
        <p:spPr>
          <a:xfrm>
            <a:off x="7973568" y="2807208"/>
            <a:ext cx="603504" cy="603504"/>
          </a:xfrm>
          <a:prstGeom prst="ellipse">
            <a:avLst/>
          </a:prstGeom>
          <a:solidFill>
            <a:srgbClr val="B97A14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280720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8061" y="3611880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11E27"/>
                </a:solidFill>
                <a:latin typeface="Georgia"/>
              </a:rPr>
              <a:t>Scale &amp; governed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8061" y="4160520"/>
            <a:ext cx="18745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Background processing and controlled AI spending.</a:t>
            </a:r>
          </a:p>
        </p:txBody>
      </p:sp>
      <p:sp>
        <p:nvSpPr>
          <p:cNvPr id="24" name="Oval 23"/>
          <p:cNvSpPr/>
          <p:nvPr/>
        </p:nvSpPr>
        <p:spPr>
          <a:xfrm>
            <a:off x="10259568" y="2807208"/>
            <a:ext cx="603504" cy="603504"/>
          </a:xfrm>
          <a:prstGeom prst="ellipse">
            <a:avLst/>
          </a:prstGeom>
          <a:solidFill>
            <a:srgbClr val="0E9E7D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59568" y="280720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4061" y="3611880"/>
            <a:ext cx="18745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11E27"/>
                </a:solidFill>
                <a:latin typeface="Georgia"/>
              </a:rPr>
              <a:t>Go-live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4061" y="4160520"/>
            <a:ext cx="18745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 i="0">
                <a:solidFill>
                  <a:srgbClr val="4C5B62"/>
                </a:solidFill>
                <a:latin typeface="Calibri"/>
              </a:rPr>
              <a:t>Monitoring, resilience, and production launch.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194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200">
                <a:solidFill>
                  <a:srgbClr val="849298"/>
                </a:solidFill>
                <a:latin typeface="Consolas"/>
              </a:rPr>
              <a:t>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1945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 spc="120">
                <a:solidFill>
                  <a:srgbClr val="0A6E57"/>
                </a:solidFill>
                <a:latin typeface="Consolas"/>
              </a:rPr>
              <a:t>FIRST SECURE RELEASE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 spc="120">
                <a:solidFill>
                  <a:srgbClr val="849298"/>
                </a:solidFill>
                <a:latin typeface="Consolas"/>
              </a:rPr>
              <a:t>AGENTIC VOC  ·  THE VALUE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4929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9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240">
                <a:solidFill>
                  <a:srgbClr val="0E9E7D"/>
                </a:solidFill>
                <a:latin typeface="Consolas"/>
              </a:rPr>
              <a:t>WHAT WE'RE 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Back the move from prototype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to a secure production rollout.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C6D3CE"/>
                </a:solidFill>
                <a:latin typeface="Calibri"/>
              </a:rPr>
              <a:t>The value is proven in the prototype. With the go-ahead on infrastructure, security, and a small delivery team, we move in stages — delivering value early while keeping risk 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142722"/>
          </a:solidFill>
          <a:ln w="12700">
            <a:solidFill>
              <a:srgbClr val="243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9379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Same team, more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6235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9E7D"/>
                </a:solidFill>
                <a:latin typeface="Consolas"/>
              </a:rPr>
              <a:t>▲ productivity &amp;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502920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142722"/>
          </a:solidFill>
          <a:ln w="12700">
            <a:solidFill>
              <a:srgbClr val="243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519379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Smarter, faster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56235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9E7D"/>
                </a:solidFill>
                <a:latin typeface="Consolas"/>
              </a:rPr>
              <a:t>▼ time-to-remediate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502920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142722"/>
          </a:solidFill>
          <a:ln w="12700">
            <a:solidFill>
              <a:srgbClr val="243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519379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A clear, staged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56235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9E7D"/>
                </a:solidFill>
                <a:latin typeface="Consolas"/>
              </a:rPr>
              <a:t>low-risk path to go-live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5A6B66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