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shift: the game just changed. AI can now find hundreds of critical flaws on its own — and attackers already use AI to move faster and cheaper than we can. The point to land: you can't defend an AI-powered world with human-speed tools. The only answer to AI attacks is AI defense. Keep it to two forces, then the one-line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proposed idea in plain terms. We put specialist AI 'analysts' — Agents — plus a custom chatbot on our side. They surface only what matters to each audience: analysts, operators, and you (leadership). Crucially, they plug into the tools we already run — no rip-and-replace — and make them predictive. Outcome: trace compliance, risk and trends, know where to focus, and stop attacks before they happen. End on the human benefit: less firefighting, more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tangible: this already works. Point to the big screenshot — the attack paths our POC mapped automatically. Then the three Ghrab VOC capabilities on the right: it detects the full attack chain, proposes a remediation plan, and gives a validation plan to prove the fix worked. Replace the placeholders with real screenshots and drop in the Ghrab logo before presenting. Close: this isn't a concept, it's running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876300"/>
            <a:ext cx="179374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472" kern="0" dirty="0">
                <a:solidFill>
                  <a:srgbClr val="55A1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NEED TO ACT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90600" y="1190625"/>
            <a:ext cx="11048687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536"/>
              </a:lnSpc>
              <a:buNone/>
            </a:pPr>
            <a:r>
              <a:rPr lang="en-US" sz="7800" spc="39" kern="0" dirty="0">
                <a:solidFill>
                  <a:srgbClr val="003C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DEFENSE MUST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034861" y="1209675"/>
            <a:ext cx="3155692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08"/>
              </a:lnSpc>
              <a:buNone/>
            </a:pPr>
            <a:r>
              <a:rPr lang="en-US" sz="7800" i="1" dirty="0">
                <a:solidFill>
                  <a:srgbClr val="55A18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evolve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990600" y="2561332"/>
            <a:ext cx="1236345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289"/>
              </a:lnSpc>
              <a:buNone/>
            </a:pPr>
            <a:r>
              <a:rPr lang="en-US" sz="2325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things changed at once — and together they rewrite the rules of security.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990600" y="3484662"/>
            <a:ext cx="7981950" cy="3590925"/>
          </a:xfrm>
          <a:prstGeom prst="roundRect">
            <a:avLst>
              <a:gd name="adj" fmla="val 5836"/>
            </a:avLst>
          </a:prstGeom>
          <a:solidFill>
            <a:srgbClr val="FFFFFF"/>
          </a:solidFill>
          <a:ln w="9525">
            <a:solidFill>
              <a:srgbClr val="003C30">
                <a:alpha val="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72529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38275" y="3913287"/>
            <a:ext cx="77952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88A68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NEW CAPABILITY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38275" y="4256187"/>
            <a:ext cx="198794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34"/>
              </a:lnSpc>
              <a:buNone/>
            </a:pPr>
            <a:r>
              <a:rPr lang="en-US" sz="6600" i="1" dirty="0">
                <a:solidFill>
                  <a:srgbClr val="003C3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100s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3416945" y="4713387"/>
            <a:ext cx="16138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 critical vulnerabilities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38275" y="5532537"/>
            <a:ext cx="729919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950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single advanced model — </a:t>
            </a:r>
            <a:pPr algn="l" indent="0" marL="0">
              <a:lnSpc>
                <a:spcPct val="121875"/>
              </a:lnSpc>
              <a:buNone/>
            </a:pPr>
            <a:r>
              <a:rPr lang="en-US" sz="1950" b="1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Anthropic Mythos </a:t>
            </a:r>
            <a:pPr algn="l" indent="0" marL="0">
              <a:lnSpc>
                <a:spcPct val="121875"/>
              </a:lnSpc>
              <a:buNone/>
            </a:pPr>
            <a:r>
              <a:rPr lang="en-US" sz="1950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uncovered hundreds of critical flaws on its own. AI now finds weaknesses at machine speed.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15450" y="3484662"/>
            <a:ext cx="7981950" cy="3590925"/>
          </a:xfrm>
          <a:prstGeom prst="roundRect">
            <a:avLst>
              <a:gd name="adj" fmla="val 5836"/>
            </a:avLst>
          </a:prstGeom>
          <a:solidFill>
            <a:srgbClr val="003C30"/>
          </a:solidFill>
          <a:ln/>
          <a:effectLst>
            <a:outerShdw sx="100000" sy="100000" kx="0" ky="0" algn="bl" rotWithShape="0" blurRad="381000" dist="171450" dir="5400000">
              <a:srgbClr val="003C3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53600" y="3903762"/>
            <a:ext cx="78162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88A68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NEW THREAT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753600" y="4246662"/>
            <a:ext cx="183863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34"/>
              </a:lnSpc>
              <a:buNone/>
            </a:pPr>
            <a:r>
              <a:rPr lang="en-US" sz="6600" i="1" dirty="0">
                <a:solidFill>
                  <a:srgbClr val="55A18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now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11596539" y="4703862"/>
            <a:ext cx="150986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attackers use it against us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753600" y="5523012"/>
            <a:ext cx="731882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95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Threat actors already weaponize AI to launch attacks that are </a:t>
            </a:r>
            <a:pPr algn="l" indent="0" marL="0">
              <a:lnSpc>
                <a:spcPct val="121875"/>
              </a:lnSpc>
              <a:buNone/>
            </a:pPr>
            <a:r>
              <a:rPr lang="en-US" sz="1950" i="1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faster, cheaper and more sophisticated </a:t>
            </a:r>
            <a:pPr algn="l" indent="0" marL="0">
              <a:lnSpc>
                <a:spcPct val="121875"/>
              </a:lnSpc>
              <a:buNone/>
            </a:pPr>
            <a:r>
              <a:rPr lang="en-US" sz="195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than anything we've faced before.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90600" y="8077200"/>
            <a:ext cx="16306800" cy="1333500"/>
          </a:xfrm>
          <a:prstGeom prst="roundRect">
            <a:avLst>
              <a:gd name="adj" fmla="val 15714"/>
            </a:avLst>
          </a:prstGeom>
          <a:solidFill>
            <a:srgbClr val="272529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5900" y="8439150"/>
            <a:ext cx="76200" cy="609600"/>
          </a:xfrm>
          <a:prstGeom prst="roundRect">
            <a:avLst>
              <a:gd name="adj" fmla="val 50000"/>
            </a:avLst>
          </a:prstGeom>
          <a:solidFill>
            <a:srgbClr val="55A185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8521005"/>
            <a:ext cx="11050161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70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only defense against AI-powered attacks is </a:t>
            </a:r>
            <a:pPr algn="l" indent="0" marL="0">
              <a:lnSpc>
                <a:spcPct val="106364"/>
              </a:lnSpc>
              <a:buNone/>
            </a:pPr>
            <a:r>
              <a:rPr lang="en-US" sz="2700" b="1" dirty="0">
                <a:solidFill>
                  <a:srgbClr val="55A1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AI-powered defense.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876300"/>
            <a:ext cx="179374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472" kern="0" dirty="0">
                <a:solidFill>
                  <a:srgbClr val="55A1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SOLUTION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90600" y="1190625"/>
            <a:ext cx="10701129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536"/>
              </a:lnSpc>
              <a:buNone/>
            </a:pPr>
            <a:r>
              <a:rPr lang="en-US" sz="7800" spc="39" kern="0" dirty="0">
                <a:solidFill>
                  <a:srgbClr val="003C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PUTTING AI ON OUR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0718899" y="1209675"/>
            <a:ext cx="1938665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08"/>
              </a:lnSpc>
              <a:buNone/>
            </a:pPr>
            <a:r>
              <a:rPr lang="en-US" sz="7800" i="1" dirty="0">
                <a:solidFill>
                  <a:srgbClr val="55A18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side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990600" y="2561332"/>
            <a:ext cx="12557760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289"/>
              </a:lnSpc>
              <a:buNone/>
            </a:pPr>
            <a:r>
              <a:rPr lang="en-US" sz="2325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team of specialist AI analysts — </a:t>
            </a:r>
            <a:pPr algn="l" indent="0" marL="0">
              <a:lnSpc>
                <a:spcPct val="118289"/>
              </a:lnSpc>
              <a:buNone/>
            </a:pPr>
            <a:r>
              <a:rPr lang="en-US" sz="2325" b="1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</a:t>
            </a:r>
            <a:pPr algn="l" indent="0" marL="0">
              <a:lnSpc>
                <a:spcPct val="118289"/>
              </a:lnSpc>
              <a:buNone/>
            </a:pPr>
            <a:r>
              <a:rPr lang="en-US" sz="2325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and a custom chatbot that highlight what matters, built right into the tools we already run.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990600" y="3893641"/>
            <a:ext cx="5219700" cy="30384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003C30">
                <a:alpha val="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72529">
                <a:alpha val="2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81125" y="4284166"/>
            <a:ext cx="488251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59"/>
              </a:lnSpc>
              <a:buNone/>
            </a:pPr>
            <a:r>
              <a:rPr lang="en-US" sz="4200" i="1" dirty="0">
                <a:solidFill>
                  <a:srgbClr val="88A6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381125" y="5027116"/>
            <a:ext cx="4882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41" kern="0" dirty="0">
                <a:solidFill>
                  <a:srgbClr val="003C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Speaks to everyone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81125" y="5474791"/>
            <a:ext cx="45718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Surfaces only what matters to each team — </a:t>
            </a:r>
            <a:pPr algn="l" indent="0" marL="0">
              <a:lnSpc>
                <a:spcPct val="124138"/>
              </a:lnSpc>
              <a:buNone/>
            </a:pPr>
            <a:r>
              <a:rPr lang="en-US" sz="1800" b="1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analysts, operators and leadership </a:t>
            </a:r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in plain language.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34150" y="3893641"/>
            <a:ext cx="5219700" cy="30384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003C30">
                <a:alpha val="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72529">
                <a:alpha val="2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24675" y="4284166"/>
            <a:ext cx="488251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59"/>
              </a:lnSpc>
              <a:buNone/>
            </a:pPr>
            <a:r>
              <a:rPr lang="en-US" sz="4200" i="1" dirty="0">
                <a:solidFill>
                  <a:srgbClr val="88A6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924675" y="5027116"/>
            <a:ext cx="4882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41" kern="0" dirty="0">
                <a:solidFill>
                  <a:srgbClr val="003C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Uses what we own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6924675" y="5474791"/>
            <a:ext cx="457181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rip-and-replace. It plugs into our existing tooling and makes it </a:t>
            </a:r>
            <a:pPr algn="l" indent="0" marL="0">
              <a:lnSpc>
                <a:spcPct val="124138"/>
              </a:lnSpc>
              <a:buNone/>
            </a:pPr>
            <a:r>
              <a:rPr lang="en-US" sz="1800" i="1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intelligent.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77700" y="3893641"/>
            <a:ext cx="5219700" cy="30384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003C30">
                <a:alpha val="7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272529">
                <a:alpha val="2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468225" y="4284166"/>
            <a:ext cx="488251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59"/>
              </a:lnSpc>
              <a:buNone/>
            </a:pPr>
            <a:r>
              <a:rPr lang="en-US" sz="4200" i="1" dirty="0">
                <a:solidFill>
                  <a:srgbClr val="88A6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2468225" y="5027116"/>
            <a:ext cx="4882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41" kern="0" dirty="0">
                <a:solidFill>
                  <a:srgbClr val="003C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Predicts, not just reacts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2468225" y="5474791"/>
            <a:ext cx="45718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Traces compliance, risk and trends, shows where to focus, and flags attacks </a:t>
            </a:r>
            <a:pPr algn="l" indent="0" marL="0">
              <a:lnSpc>
                <a:spcPct val="124138"/>
              </a:lnSpc>
              <a:buNone/>
            </a:pPr>
            <a:r>
              <a:rPr lang="en-US" sz="1800" b="1" dirty="0">
                <a:solidFill>
                  <a:srgbClr val="2725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they happen.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0600" y="8077200"/>
            <a:ext cx="16306800" cy="1333500"/>
          </a:xfrm>
          <a:prstGeom prst="roundRect">
            <a:avLst>
              <a:gd name="adj" fmla="val 15714"/>
            </a:avLst>
          </a:prstGeom>
          <a:solidFill>
            <a:srgbClr val="003C30"/>
          </a:solidFill>
          <a:ln/>
        </p:spPr>
      </p:sp>
      <p:sp>
        <p:nvSpPr>
          <p:cNvPr id="20" name="Shape 18"/>
          <p:cNvSpPr/>
          <p:nvPr/>
        </p:nvSpPr>
        <p:spPr>
          <a:xfrm>
            <a:off x="1485900" y="8439150"/>
            <a:ext cx="76200" cy="609600"/>
          </a:xfrm>
          <a:prstGeom prst="roundRect">
            <a:avLst>
              <a:gd name="adj" fmla="val 50000"/>
            </a:avLst>
          </a:prstGeom>
          <a:solidFill>
            <a:srgbClr val="55A185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8521005"/>
            <a:ext cx="1153294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70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Less firefighting, more foresight — and </a:t>
            </a:r>
            <a:pPr algn="l" indent="0" marL="0">
              <a:lnSpc>
                <a:spcPct val="106364"/>
              </a:lnSpc>
              <a:buNone/>
            </a:pPr>
            <a:r>
              <a:rPr lang="en-US" sz="2700" b="1" dirty="0">
                <a:solidFill>
                  <a:srgbClr val="55A1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back for real improvement.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C30"/>
          </a:solidFill>
          <a:ln/>
        </p:spPr>
      </p:sp>
      <p:sp>
        <p:nvSpPr>
          <p:cNvPr id="3" name="Text 1"/>
          <p:cNvSpPr/>
          <p:nvPr/>
        </p:nvSpPr>
        <p:spPr>
          <a:xfrm>
            <a:off x="2609850" y="928688"/>
            <a:ext cx="50260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472" kern="0" dirty="0">
                <a:solidFill>
                  <a:srgbClr val="88A68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OUR PROOF OF CONCEPT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409700"/>
            <a:ext cx="4451137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8"/>
              </a:lnSpc>
              <a:buNone/>
            </a:pPr>
            <a:r>
              <a:rPr lang="en-US" sz="6600" spc="33" kern="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SEEING IT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960888" y="1428750"/>
            <a:ext cx="3768298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19"/>
              </a:lnSpc>
              <a:buNone/>
            </a:pPr>
            <a:r>
              <a:rPr lang="en-US" sz="6600" i="1" dirty="0">
                <a:solidFill>
                  <a:srgbClr val="55A18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 action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2745432"/>
            <a:ext cx="9819233" cy="5865168"/>
          </a:xfrm>
          <a:prstGeom prst="roundRect">
            <a:avLst>
              <a:gd name="adj" fmla="val 3248"/>
            </a:avLst>
          </a:prstGeom>
          <a:solidFill>
            <a:srgbClr val="F7F2EE"/>
          </a:solidFill>
          <a:ln/>
          <a:effectLst>
            <a:outerShdw sx="100000" sy="100000" kx="0" ky="0" algn="bl" rotWithShape="0" blurRad="476250" dist="228600" dir="5400000">
              <a:srgbClr val="000000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8763000"/>
            <a:ext cx="108011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Detected attack paths </a:t>
            </a:r>
            <a:pPr algn="l" indent="0" marL="0">
              <a:buNone/>
            </a:pPr>
            <a:r>
              <a:rPr lang="en-US" sz="180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 mapped automatically by the system.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038433" y="2745432"/>
            <a:ext cx="6335018" cy="1970931"/>
          </a:xfrm>
          <a:prstGeom prst="roundRect">
            <a:avLst>
              <a:gd name="adj" fmla="val 8699"/>
            </a:avLst>
          </a:prstGeom>
          <a:solidFill>
            <a:srgbClr val="F7F2EE">
              <a:alpha val="6000"/>
            </a:srgbClr>
          </a:solidFill>
          <a:ln w="9525">
            <a:solidFill>
              <a:srgbClr val="88A682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00358" y="2907357"/>
            <a:ext cx="1428750" cy="1647081"/>
          </a:xfrm>
          <a:prstGeom prst="roundRect">
            <a:avLst>
              <a:gd name="adj" fmla="val 8000"/>
            </a:avLst>
          </a:prstGeom>
          <a:solidFill>
            <a:srgbClr val="F7F2EE"/>
          </a:solidFill>
          <a:ln/>
        </p:spPr>
      </p:sp>
      <p:sp>
        <p:nvSpPr>
          <p:cNvPr id="10" name="Text 8"/>
          <p:cNvSpPr/>
          <p:nvPr/>
        </p:nvSpPr>
        <p:spPr>
          <a:xfrm>
            <a:off x="12800558" y="3320355"/>
            <a:ext cx="48520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 attack chains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800558" y="3634680"/>
            <a:ext cx="4543297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C9D6C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Connects the dots into the full path an attacker would take.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038433" y="4906863"/>
            <a:ext cx="6335018" cy="1970931"/>
          </a:xfrm>
          <a:prstGeom prst="roundRect">
            <a:avLst>
              <a:gd name="adj" fmla="val 8699"/>
            </a:avLst>
          </a:prstGeom>
          <a:solidFill>
            <a:srgbClr val="F7F2EE">
              <a:alpha val="6000"/>
            </a:srgbClr>
          </a:solidFill>
          <a:ln w="9525">
            <a:solidFill>
              <a:srgbClr val="88A682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00358" y="5068788"/>
            <a:ext cx="1428750" cy="1647081"/>
          </a:xfrm>
          <a:prstGeom prst="roundRect">
            <a:avLst>
              <a:gd name="adj" fmla="val 8000"/>
            </a:avLst>
          </a:prstGeom>
          <a:solidFill>
            <a:srgbClr val="F7F2EE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0558" y="5608439"/>
            <a:ext cx="48520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Propose remediation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800558" y="5922764"/>
            <a:ext cx="4852065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C9D6C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Recommends exactly what to fix first, and how.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1038433" y="7068294"/>
            <a:ext cx="6335018" cy="1970931"/>
          </a:xfrm>
          <a:prstGeom prst="roundRect">
            <a:avLst>
              <a:gd name="adj" fmla="val 8699"/>
            </a:avLst>
          </a:prstGeom>
          <a:solidFill>
            <a:srgbClr val="F7F2EE">
              <a:alpha val="6000"/>
            </a:srgbClr>
          </a:solidFill>
          <a:ln w="9525">
            <a:solidFill>
              <a:srgbClr val="88A682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0358" y="7230219"/>
            <a:ext cx="1428750" cy="1647081"/>
          </a:xfrm>
          <a:prstGeom prst="roundRect">
            <a:avLst>
              <a:gd name="adj" fmla="val 8000"/>
            </a:avLst>
          </a:prstGeom>
          <a:solidFill>
            <a:srgbClr val="F7F2EE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0558" y="7769870"/>
            <a:ext cx="48520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7F2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Validation plans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800558" y="8084195"/>
            <a:ext cx="4852065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C9D6C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Proves the fix actually worked — no guesswork.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14400" y="9286875"/>
            <a:ext cx="181051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88A68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isn't a concept — it's already running in our proof of concept.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2026-07-22T13:04:06Z</dcterms:created>
  <dcterms:modified xsi:type="dcterms:W3CDTF">2026-07-22T13:04:06Z</dcterms:modified>
</cp:coreProperties>
</file>