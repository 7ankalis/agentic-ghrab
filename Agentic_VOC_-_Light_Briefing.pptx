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B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750722" y="760780"/>
            <a:ext cx="281635" cy="251460"/>
          </a:xfrm>
          <a:prstGeom prst="triangl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6583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32029"/>
                </a:solidFill>
                <a:latin typeface="Georgia"/>
              </a:rPr>
              <a:t>Agentic VOC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0241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60">
                <a:solidFill>
                  <a:srgbClr val="4C5B62"/>
                </a:solidFill>
                <a:latin typeface="Consolas"/>
              </a:rPr>
              <a:t>VULNERABILITY OPERATIONS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32029"/>
                </a:solidFill>
                <a:latin typeface="Georgia"/>
              </a:rPr>
              <a:t>A team of AI agents that thinks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32029"/>
                </a:solidFill>
                <a:latin typeface="Georgia"/>
              </a:rPr>
              <a:t>in attack paths, not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Traditional tooling hands you thousands of isolated alerts and lets you sort them by score. An agentic system reasons across them — chaining weak links into the real routes an attacker would take, verifying every claim against reality, and explaining itself in plain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2615184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30352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9E7D"/>
                </a:solidFill>
                <a:latin typeface="Georg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80644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Specialized AI agents working as one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5212080"/>
            <a:ext cx="2615184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530352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9E7D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580644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Reasoning layers — deterministic first, AI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5212080"/>
            <a:ext cx="2615184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30352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9E7D"/>
                </a:solidFill>
                <a:latin typeface="Georgia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580644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Of AI claims verified before display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7112" y="5212080"/>
            <a:ext cx="2615184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530352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9E7D"/>
                </a:solidFill>
                <a:latin typeface="Georg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5806440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Single points of failure — multi-provider failover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Attackers chain. Most tools only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A scanner reports each weakness on its own line. But a breach is rarely one big flaw — it's several ordinary ones strung together across machines. A pile of "medium" findings can hide a catastrophic route no single row reveals.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00">
                <a:solidFill>
                  <a:srgbClr val="7A888E"/>
                </a:solidFill>
                <a:latin typeface="Consolas"/>
              </a:rPr>
              <a:t>A SCANNER'S OUTPUT — ISOLATED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9E7A10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36192" y="2880360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2880360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28416" y="2880360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300984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36192" y="3300984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32304" y="3300984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9E7A10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28416" y="3300984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21608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36192" y="3721608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9E7A10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32304" y="3721608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28416" y="3721608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42232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36192" y="4142232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32304" y="4142232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28416" y="4142232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9E7A10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562856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9E7A10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36192" y="4562856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2304" y="4562856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8416" y="4562856"/>
            <a:ext cx="786384" cy="310896"/>
          </a:xfrm>
          <a:prstGeom prst="roundRect">
            <a:avLst>
              <a:gd name="adj" fmla="val 18000"/>
            </a:avLst>
          </a:prstGeom>
          <a:solidFill>
            <a:srgbClr val="E7ECEC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C5B62"/>
                </a:solidFill>
                <a:latin typeface="Calibri"/>
              </a:rPr>
              <a:t>Four "mediums" and a "low" look harmless in a list.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2743200"/>
            <a:ext cx="0" cy="2743200"/>
          </a:xfrm>
          <a:prstGeom prst="line">
            <a:avLst/>
          </a:prstGeom>
          <a:ln w="12700">
            <a:solidFill>
              <a:srgbClr val="C3CFC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2468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00">
                <a:solidFill>
                  <a:srgbClr val="7A888E"/>
                </a:solidFill>
                <a:latin typeface="Consolas"/>
              </a:rPr>
              <a:t>THE CHAIN — INTERNET → CROWN JEWEL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583680" y="3383280"/>
            <a:ext cx="1097280" cy="640080"/>
          </a:xfrm>
          <a:prstGeom prst="line">
            <a:avLst/>
          </a:prstGeom>
          <a:ln w="2540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60" y="3383280"/>
            <a:ext cx="1097280" cy="731520"/>
          </a:xfrm>
          <a:prstGeom prst="line">
            <a:avLst/>
          </a:prstGeom>
          <a:ln w="2540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78240" y="3383280"/>
            <a:ext cx="1097280" cy="731520"/>
          </a:xfrm>
          <a:prstGeom prst="line">
            <a:avLst/>
          </a:prstGeom>
          <a:ln w="2540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875520" y="3383280"/>
            <a:ext cx="1188720" cy="822960"/>
          </a:xfrm>
          <a:prstGeom prst="line">
            <a:avLst/>
          </a:prstGeom>
          <a:ln w="2540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272784" y="3712464"/>
            <a:ext cx="621792" cy="62179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3F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3525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INTERNET</a:t>
            </a:r>
          </a:p>
        </p:txBody>
      </p:sp>
      <p:sp>
        <p:nvSpPr>
          <p:cNvPr id="39" name="Oval 38"/>
          <p:cNvSpPr/>
          <p:nvPr/>
        </p:nvSpPr>
        <p:spPr>
          <a:xfrm>
            <a:off x="7370064" y="3072384"/>
            <a:ext cx="621792" cy="62179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7124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EDGE APP</a:t>
            </a:r>
          </a:p>
        </p:txBody>
      </p:sp>
      <p:sp>
        <p:nvSpPr>
          <p:cNvPr id="41" name="Oval 40"/>
          <p:cNvSpPr/>
          <p:nvPr/>
        </p:nvSpPr>
        <p:spPr>
          <a:xfrm>
            <a:off x="8467344" y="3803904"/>
            <a:ext cx="621792" cy="62179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44398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CREDS</a:t>
            </a:r>
          </a:p>
        </p:txBody>
      </p:sp>
      <p:sp>
        <p:nvSpPr>
          <p:cNvPr id="43" name="Oval 42"/>
          <p:cNvSpPr/>
          <p:nvPr/>
        </p:nvSpPr>
        <p:spPr>
          <a:xfrm>
            <a:off x="9564624" y="3072384"/>
            <a:ext cx="621792" cy="62179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C9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7124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PIVOT</a:t>
            </a:r>
          </a:p>
        </p:txBody>
      </p:sp>
      <p:sp>
        <p:nvSpPr>
          <p:cNvPr id="45" name="Oval 44"/>
          <p:cNvSpPr/>
          <p:nvPr/>
        </p:nvSpPr>
        <p:spPr>
          <a:xfrm>
            <a:off x="10753344" y="3895344"/>
            <a:ext cx="621792" cy="621792"/>
          </a:xfrm>
          <a:prstGeom prst="ellipse">
            <a:avLst/>
          </a:prstGeom>
          <a:solidFill>
            <a:srgbClr val="E1F3EE"/>
          </a:solidFill>
          <a:ln w="25400">
            <a:solidFill>
              <a:srgbClr val="CE3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5354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JEWEL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WHAT AN "AGENT"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From a script to a coordinated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"AI agent" is not marketing — it's a specific rung on a ladder of capability. Each step adds something the one below it structurally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7ECEC"/>
          </a:solidFill>
          <a:ln w="1270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3308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72000"/>
            <a:ext cx="22951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Fixed rules. Only finds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what it was told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338328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E7ECEC"/>
          </a:solidFill>
          <a:ln w="1270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349300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Single AI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931920"/>
            <a:ext cx="229514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Smart answer, but no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memory, no tools; can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make things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2651760"/>
            <a:ext cx="2514600" cy="3200400"/>
          </a:xfrm>
          <a:prstGeom prst="roundRect">
            <a:avLst>
              <a:gd name="adj" fmla="val 6000"/>
            </a:avLst>
          </a:prstGeom>
          <a:solidFill>
            <a:srgbClr val="F0F3F3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76148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200400"/>
            <a:ext cx="2295144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Role + tools + grounded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data + a goal. Reasons in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steps; output 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1828800"/>
            <a:ext cx="2514600" cy="4023360"/>
          </a:xfrm>
          <a:prstGeom prst="roundRect">
            <a:avLst>
              <a:gd name="adj" fmla="val 6000"/>
            </a:avLst>
          </a:prstGeom>
          <a:solidFill>
            <a:srgbClr val="E1F3EE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93852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7A61"/>
                </a:solidFill>
                <a:latin typeface="Georgia"/>
              </a:rPr>
              <a:t>Multi-agent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377440"/>
            <a:ext cx="2295144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7A61"/>
                </a:solidFill>
                <a:latin typeface="Calibri"/>
              </a:rPr>
              <a:t>Specialists hand verified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7A61"/>
                </a:solidFill>
                <a:latin typeface="Calibri"/>
              </a:rPr>
              <a:t>work to each other —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7A61"/>
                </a:solidFill>
                <a:latin typeface="Calibri"/>
              </a:rPr>
              <a:t>like a team.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053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7A888E"/>
                </a:solidFill>
                <a:latin typeface="Consolas"/>
              </a:rPr>
              <a:t>LESS AUTONOMY, LESS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053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 spc="80">
                <a:solidFill>
                  <a:srgbClr val="7A888E"/>
                </a:solidFill>
                <a:latin typeface="Consolas"/>
              </a:rPr>
              <a:t>MORE CAPABILITY, MORE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WHAT EACH RUNG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Reading down the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The multi-agent system is the only rung that satisfies every requirement of a tool you can trust with security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4C5B62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91440" marR="45720" anchor="ctr">
                    <a:solidFill>
                      <a:srgbClr val="F0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4C5B62"/>
                          </a:solidFill>
                          <a:latin typeface="Consolas"/>
                        </a:rPr>
                        <a:t>Script</a:t>
                      </a:r>
                    </a:p>
                  </a:txBody>
                  <a:tcPr marL="91440" marR="45720" anchor="ctr">
                    <a:solidFill>
                      <a:srgbClr val="F0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4C5B62"/>
                          </a:solidFill>
                          <a:latin typeface="Consolas"/>
                        </a:rPr>
                        <a:t>Single AI call</a:t>
                      </a:r>
                    </a:p>
                  </a:txBody>
                  <a:tcPr marL="91440" marR="45720" anchor="ctr">
                    <a:solidFill>
                      <a:srgbClr val="F0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4C5B62"/>
                          </a:solidFill>
                          <a:latin typeface="Consolas"/>
                        </a:rPr>
                        <a:t>AI agent</a:t>
                      </a:r>
                    </a:p>
                  </a:txBody>
                  <a:tcPr marL="91440" marR="45720" anchor="ctr">
                    <a:solidFill>
                      <a:srgbClr val="F0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32029"/>
                          </a:solidFill>
                          <a:latin typeface="Consolas"/>
                        </a:rPr>
                        <a:t>Multi-agent (this system)</a:t>
                      </a:r>
                    </a:p>
                  </a:txBody>
                  <a:tcPr marL="91440" marR="45720" anchor="ctr">
                    <a:solidFill>
                      <a:srgbClr val="E1F3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32029"/>
                          </a:solidFill>
                          <a:latin typeface="Calibri"/>
                        </a:rPr>
                        <a:t>Reasons over meaning, not patterns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E1F3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32029"/>
                          </a:solidFill>
                          <a:latin typeface="Calibri"/>
                        </a:rPr>
                        <a:t>Uses real tools &amp; live data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E7A10"/>
                          </a:solidFill>
                          <a:latin typeface="Consolas"/>
                        </a:rPr>
                        <a:t>Limited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E1F3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32029"/>
                          </a:solidFill>
                          <a:latin typeface="Calibri"/>
                        </a:rPr>
                        <a:t>Grounded in your environment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E7A10"/>
                          </a:solidFill>
                          <a:latin typeface="Consolas"/>
                        </a:rPr>
                        <a:t>Limited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E1F3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32029"/>
                          </a:solidFill>
                          <a:latin typeface="Calibri"/>
                        </a:rPr>
                        <a:t>Output verified before you see it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E7A10"/>
                          </a:solidFill>
                          <a:latin typeface="Consolas"/>
                        </a:rPr>
                        <a:t>Limited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E7A10"/>
                          </a:solidFill>
                          <a:latin typeface="Consolas"/>
                        </a:rPr>
                        <a:t>Limited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E1F3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32029"/>
                          </a:solidFill>
                          <a:latin typeface="Calibri"/>
                        </a:rPr>
                        <a:t>Specialists build on each other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7A888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E8A6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E1F3E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onsolas"/>
              </a:rPr>
              <a:t>Full capability  ·  Limited / conditional  ·  Absent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DEGREES OF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Autonomy where it's safe. Judgment where it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The system is deliberately not "AI decides everything." Each layer sits at the autonomy level its task can be trusted with — and the analyst stays in command of decisions and remediation.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3474720" cy="201168"/>
          </a:xfrm>
          <a:prstGeom prst="roundRect">
            <a:avLst>
              <a:gd name="adj" fmla="val 50000"/>
            </a:avLst>
          </a:prstGeom>
          <a:solidFill>
            <a:srgbClr val="3F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474720" cy="201168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743200"/>
            <a:ext cx="3566160" cy="201168"/>
          </a:xfrm>
          <a:prstGeom prst="roundRect">
            <a:avLst>
              <a:gd name="adj" fmla="val 50000"/>
            </a:avLst>
          </a:prstGeom>
          <a:solidFill>
            <a:srgbClr val="0B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323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888E"/>
                </a:solidFill>
                <a:latin typeface="Consolas"/>
              </a:rPr>
              <a:t>ASSISTED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323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888E"/>
                </a:solidFill>
                <a:latin typeface="Consolas"/>
              </a:rPr>
              <a:t>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323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888E"/>
                </a:solidFill>
                <a:latin typeface="Consolas"/>
              </a:rPr>
              <a:t>AUTONOMOUS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Human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C5B62"/>
                </a:solidFill>
                <a:latin typeface="Calibri"/>
              </a:rPr>
              <a:t>Owns decisions, approves remediation, sets priorities. The AI serves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832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566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7A61"/>
                </a:solidFill>
                <a:latin typeface="Georgia"/>
              </a:rPr>
              <a:t>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6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C5B62"/>
                </a:solidFill>
                <a:latin typeface="Calibri"/>
              </a:rPr>
              <a:t>Run autonomously, but guarded: every claim checked against verified ground truth.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3832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566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Deterministic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2336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C5B62"/>
                </a:solidFill>
                <a:latin typeface="Calibri"/>
              </a:rPr>
              <a:t>Fully autonomous. Pure math — repeatable, explainable, zero hallucination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Ingest, ground, compute, reason, verify,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Raw data goes in one end; a ranked, explained, audit-ready picture comes out the other. The deterministic layer builds a verified map first — the AI never invents the terrain.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756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7A888E"/>
                </a:solidFill>
                <a:latin typeface="Consolas"/>
              </a:rPr>
              <a:t>1 · 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Scan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98648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Infrastructure doc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65576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6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Threat-intel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0756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7A888E"/>
                </a:solidFill>
                <a:latin typeface="Consolas"/>
              </a:rPr>
              <a:t>2 · GROUND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2331720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5146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32029"/>
                </a:solidFill>
                <a:latin typeface="Georgia"/>
              </a:rPr>
              <a:t>CMDB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260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Parses the doc into zones, assets, owners, trust &amp; reachability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148840"/>
            <a:ext cx="3017520" cy="2331720"/>
          </a:xfrm>
          <a:prstGeom prst="roundRect">
            <a:avLst>
              <a:gd name="adj" fmla="val 6000"/>
            </a:avLst>
          </a:prstGeom>
          <a:solidFill>
            <a:srgbClr val="E7EAFB"/>
          </a:solidFill>
          <a:ln w="17780">
            <a:solidFill>
              <a:srgbClr val="4C5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22199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60">
                <a:solidFill>
                  <a:srgbClr val="4C5FD8"/>
                </a:solidFill>
                <a:latin typeface="Consolas"/>
              </a:rPr>
              <a:t>3 · DETERMINISTIC · NO AI · ALWAYS RUNS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560320"/>
            <a:ext cx="274320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63347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Georgia"/>
              </a:rPr>
              <a:t>Capability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9535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Maps each finding to attacker effects (ATT&amp;CK-style)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429000"/>
            <a:ext cx="27432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5021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Georgia"/>
              </a:rPr>
              <a:t>Reachability graph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8221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Enumerates every internet → crown-jewel chain, ranked by blast radius. Pure graph theory.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663440"/>
            <a:ext cx="3017520" cy="1417320"/>
          </a:xfrm>
          <a:prstGeom prst="roundRect">
            <a:avLst>
              <a:gd name="adj" fmla="val 6000"/>
            </a:avLst>
          </a:prstGeom>
          <a:solidFill>
            <a:srgbClr val="E1F3EE"/>
          </a:solidFill>
          <a:ln w="1778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72744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60">
                <a:solidFill>
                  <a:srgbClr val="0B7A61"/>
                </a:solidFill>
                <a:latin typeface="Consolas"/>
              </a:rPr>
              <a:t>4 · AI AGENT LAYER · GROUNDED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5029200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5029200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Analyst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029200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029200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Discovery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5376672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5376672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Correlation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376672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376672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Compliance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5724144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724144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Remediation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5724144"/>
            <a:ext cx="132588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724144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Triage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20756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7A888E"/>
                </a:solidFill>
                <a:latin typeface="Consolas"/>
              </a:rPr>
              <a:t>5 · VERIFY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2331720"/>
            <a:ext cx="1463040" cy="2240280"/>
          </a:xfrm>
          <a:prstGeom prst="roundRect">
            <a:avLst>
              <a:gd name="adj" fmla="val 8000"/>
            </a:avLst>
          </a:prstGeom>
          <a:solidFill>
            <a:srgbClr val="F0F3F3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66760" y="278892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2697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E8A62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32029"/>
                </a:solidFill>
                <a:latin typeface="Georgia"/>
              </a:rPr>
              <a:t>The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749040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Every cited path, finding &amp; host checked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07568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7A888E"/>
                </a:solidFill>
                <a:latin typeface="Consolas"/>
              </a:rPr>
              <a:t>6 · PRESENT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2331720"/>
            <a:ext cx="20574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233172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Command center &amp; KPIs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09760" y="2898648"/>
            <a:ext cx="20574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289864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Interactive attack graph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3465576"/>
            <a:ext cx="20574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3465576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Grounded analyst chat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77440" y="3127248"/>
            <a:ext cx="210312" cy="0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3400" y="3127248"/>
            <a:ext cx="210312" cy="27432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080760" y="4434840"/>
            <a:ext cx="0" cy="210312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89520" y="3246120"/>
            <a:ext cx="210311" cy="0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549640" y="4572000"/>
            <a:ext cx="0" cy="137160"/>
          </a:xfrm>
          <a:prstGeom prst="line">
            <a:avLst/>
          </a:prstGeom>
          <a:ln w="2286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81160" y="3429000"/>
            <a:ext cx="210312" cy="0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40080" y="4983480"/>
            <a:ext cx="37033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CF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05663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Georgia"/>
              </a:rPr>
              <a:t>Held-out answer key  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5367528"/>
            <a:ext cx="3520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Known-good paths kept entirely outside the pipeline — like an exam key locked in a drawer. Agents can't reach it, so they can't cheat; afterwards it scores engine and agents honestly.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THE DETERMINISTIC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The AI reasons over a map it never gets to invent.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Before any model is called, a rule-based engine turns raw findings into attacker capabilities and builds the reachability graph — reproducible, explainable, identical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80">
                <a:solidFill>
                  <a:srgbClr val="7A888E"/>
                </a:solidFill>
                <a:latin typeface="Consolas"/>
              </a:rPr>
              <a:t>STEP A — FINDING → ATTACKER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6616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E7ECEC"/>
          </a:solidFill>
          <a:ln w="1270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32029"/>
                </a:solidFill>
                <a:latin typeface="Georgia"/>
              </a:rPr>
              <a:t>Raw finding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7889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F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889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Initial access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240280" y="2971800"/>
            <a:ext cx="758952" cy="91440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17520" y="32461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2461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Code execution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240280" y="3429000"/>
            <a:ext cx="758952" cy="45720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17520" y="37033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033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Credential theft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0280" y="3886200"/>
            <a:ext cx="758952" cy="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017520" y="41605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1605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Privilege escalation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40280" y="3886200"/>
            <a:ext cx="758952" cy="45720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17520" y="46177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617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Segmentation break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40280" y="3886200"/>
            <a:ext cx="758952" cy="91440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17520" y="5074920"/>
            <a:ext cx="2651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E3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50749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3886200"/>
            <a:ext cx="758952" cy="1371600"/>
          </a:xfrm>
          <a:prstGeom prst="line">
            <a:avLst/>
          </a:prstGeom>
          <a:ln w="1270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35040" y="233172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450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80">
                <a:solidFill>
                  <a:srgbClr val="7A888E"/>
                </a:solidFill>
                <a:latin typeface="Consolas"/>
              </a:rPr>
              <a:t>STEP B — CAPABILITIES BECOME GRAPH EDGES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492240" y="3200400"/>
            <a:ext cx="1280160" cy="731520"/>
          </a:xfrm>
          <a:prstGeom prst="line">
            <a:avLst/>
          </a:prstGeom>
          <a:ln w="3048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2240" y="3931920"/>
            <a:ext cx="1280160" cy="7315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72400" y="2926080"/>
            <a:ext cx="1371600" cy="2743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72400" y="3200400"/>
            <a:ext cx="1371600" cy="731520"/>
          </a:xfrm>
          <a:prstGeom prst="line">
            <a:avLst/>
          </a:prstGeom>
          <a:ln w="3048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772400" y="3931920"/>
            <a:ext cx="1371600" cy="7315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4663440"/>
            <a:ext cx="1371600" cy="2743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44000" y="2926080"/>
            <a:ext cx="1463040" cy="54864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144000" y="3474720"/>
            <a:ext cx="1463040" cy="457200"/>
          </a:xfrm>
          <a:prstGeom prst="line">
            <a:avLst/>
          </a:prstGeom>
          <a:ln w="30480">
            <a:solidFill>
              <a:srgbClr val="0E9E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44000" y="3931920"/>
            <a:ext cx="1463040" cy="7315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44000" y="4663440"/>
            <a:ext cx="1463040" cy="274320"/>
          </a:xfrm>
          <a:prstGeom prst="line">
            <a:avLst/>
          </a:prstGeom>
          <a:ln w="15240">
            <a:solidFill>
              <a:srgbClr val="C3CF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318504" y="3758184"/>
            <a:ext cx="347472" cy="34747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3F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12394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A888E"/>
                </a:solidFill>
                <a:latin typeface="Consolas"/>
              </a:rPr>
              <a:t>INTERNET</a:t>
            </a:r>
          </a:p>
        </p:txBody>
      </p:sp>
      <p:sp>
        <p:nvSpPr>
          <p:cNvPr id="45" name="Oval 44"/>
          <p:cNvSpPr/>
          <p:nvPr/>
        </p:nvSpPr>
        <p:spPr>
          <a:xfrm>
            <a:off x="7598664" y="3026664"/>
            <a:ext cx="347472" cy="34747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9E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98664" y="4489704"/>
            <a:ext cx="347472" cy="347472"/>
          </a:xfrm>
          <a:prstGeom prst="ellipse">
            <a:avLst/>
          </a:prstGeom>
          <a:solidFill>
            <a:srgbClr val="E7ECEC"/>
          </a:solidFill>
          <a:ln w="1524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70264" y="2752344"/>
            <a:ext cx="347472" cy="347472"/>
          </a:xfrm>
          <a:prstGeom prst="ellipse">
            <a:avLst/>
          </a:prstGeom>
          <a:solidFill>
            <a:srgbClr val="E7ECEC"/>
          </a:solidFill>
          <a:ln w="1524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70264" y="3758184"/>
            <a:ext cx="347472" cy="347472"/>
          </a:xfrm>
          <a:prstGeom prst="ellipse">
            <a:avLst/>
          </a:prstGeom>
          <a:solidFill>
            <a:srgbClr val="E7ECEC"/>
          </a:solidFill>
          <a:ln w="25400">
            <a:solidFill>
              <a:srgbClr val="C9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0264" y="4764024"/>
            <a:ext cx="347472" cy="347472"/>
          </a:xfrm>
          <a:prstGeom prst="ellipse">
            <a:avLst/>
          </a:prstGeom>
          <a:solidFill>
            <a:srgbClr val="E7ECEC"/>
          </a:solidFill>
          <a:ln w="1524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05872" y="3273552"/>
            <a:ext cx="402336" cy="402336"/>
          </a:xfrm>
          <a:prstGeom prst="ellipse">
            <a:avLst/>
          </a:prstGeom>
          <a:solidFill>
            <a:srgbClr val="E1F3EE"/>
          </a:solidFill>
          <a:ln w="25400">
            <a:solidFill>
              <a:srgbClr val="CE3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3694176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A888E"/>
                </a:solidFill>
                <a:latin typeface="Consolas"/>
              </a:rPr>
              <a:t>CROWN JEWEL</a:t>
            </a:r>
          </a:p>
        </p:txBody>
      </p:sp>
      <p:sp>
        <p:nvSpPr>
          <p:cNvPr id="52" name="Oval 51"/>
          <p:cNvSpPr/>
          <p:nvPr/>
        </p:nvSpPr>
        <p:spPr>
          <a:xfrm>
            <a:off x="10433304" y="4489704"/>
            <a:ext cx="347472" cy="347472"/>
          </a:xfrm>
          <a:prstGeom prst="ellipse">
            <a:avLst/>
          </a:prstGeom>
          <a:solidFill>
            <a:srgbClr val="E7ECEC"/>
          </a:solidFill>
          <a:ln w="1524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349240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60">
                <a:solidFill>
                  <a:srgbClr val="7A888E"/>
                </a:solidFill>
                <a:latin typeface="Consolas"/>
              </a:rPr>
              <a:t>EVERY ENTRY→JEWEL CHAIN, RANKED BY BLAST RADIUS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THE AGENT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Seven specialists, not one generalist chatbot.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Each agent has a narrow role, its own grounded context, and a verification contract. They run in sequence — later agents build on the confirmed conclusions of earlier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44450" cy="1170432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0E9E7D"/>
                </a:solidFill>
                <a:latin typeface="Consolas"/>
              </a:rPr>
              <a:t>FLAGSHIP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6090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analyst_agent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Reasons out attack paths hop by hop from grounding alone — no hints, no answer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33172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2331720"/>
            <a:ext cx="44450" cy="1170432"/>
          </a:xfrm>
          <a:prstGeom prst="rect">
            <a:avLst/>
          </a:prstGeom>
          <a:solidFill>
            <a:srgbClr val="4C5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441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4C5FD8"/>
                </a:solidFill>
                <a:latin typeface="Consolas"/>
              </a:rP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6090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discovery_agent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953512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Validates, ranks and narrates chains; hunts toxic combinations of findings.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233172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2331720"/>
            <a:ext cx="44450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441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2A78D6"/>
                </a:solidFill>
                <a:latin typeface="Consolas"/>
              </a:rPr>
              <a:t>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66090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correlation_agent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953512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Cross-references inventory vs. findings to surface non-obvious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4845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48456"/>
            <a:ext cx="44450" cy="1170432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58184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EDA100"/>
                </a:solidFill>
                <a:latin typeface="Consolas"/>
              </a:rP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77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compliance_agent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702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Maps findings and paths onto regulatory and control impact.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364845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4256" y="3648456"/>
            <a:ext cx="44450" cy="1170432"/>
          </a:xfrm>
          <a:prstGeom prst="rect">
            <a:avLst/>
          </a:prstGeom>
          <a:solidFill>
            <a:srgbClr val="0E8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758184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0E8A62"/>
                </a:solidFill>
                <a:latin typeface="Consolas"/>
              </a:rPr>
              <a:t>REMEDIATION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3977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remediation_agent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42702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Finds the single fix that severs the most attack paths.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364845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2" y="3648456"/>
            <a:ext cx="44450" cy="1170432"/>
          </a:xfrm>
          <a:prstGeom prst="rect">
            <a:avLst/>
          </a:prstGeom>
          <a:solidFill>
            <a:srgbClr val="C9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758184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C96A18"/>
                </a:solidFill>
                <a:latin typeface="Consolas"/>
              </a:rPr>
              <a:t>TRIAGE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977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triage_agent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2702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Reads every prior agent and writes one consistent executive synthesis.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65192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965192"/>
            <a:ext cx="44450" cy="1170432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74920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0E9E7D"/>
                </a:solidFill>
                <a:latin typeface="Consolas"/>
              </a:rPr>
              <a:t>CONVERSATIONAL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9437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029"/>
                </a:solidFill>
                <a:latin typeface="Consolas"/>
              </a:rPr>
              <a:t>grounded_analyst · 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586984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A streaming analyst that answers by citing real paths and finding IDs.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2" y="4965192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5111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7A61"/>
                </a:solidFill>
                <a:latin typeface="Georgia"/>
              </a:rPr>
              <a:t>Hand-off, not free-for-all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54406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Deterministic results feed the agents; the executive synthesis runs last, reflecting everything decided upstream.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WHY IT'S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32029"/>
                </a:solidFill>
                <a:latin typeface="Georgia"/>
              </a:rPr>
              <a:t>The AI can't cheat — or hallucinate to your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"AI made this up" is why security teams distrust generative tools. This system is engineered so that failure mode cannot reach a decision-maker.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1460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0E9E7D"/>
                </a:solidFill>
                <a:latin typeface="Consolas"/>
              </a:rPr>
              <a:t>GUARDRAIL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163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2029"/>
                </a:solidFill>
                <a:latin typeface="Georgia"/>
              </a:rPr>
              <a:t>Map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4612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The engine builds the terrain. The AI reasons over a verified map — it never invents topology.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37744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51460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0E9E7D"/>
                </a:solidFill>
                <a:latin typeface="Consolas"/>
              </a:rPr>
              <a:t>GUARDRAIL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8163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2029"/>
                </a:solidFill>
                <a:latin typeface="Georgia"/>
              </a:rPr>
              <a:t>Answer key severed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24612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Known-good paths are held outside everything the AI sees. Agents must reason, not copy.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7744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1460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0E9E7D"/>
                </a:solidFill>
                <a:latin typeface="Consolas"/>
              </a:rPr>
              <a:t>GUARDRAIL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163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2029"/>
                </a:solidFill>
                <a:latin typeface="Georgia"/>
              </a:rPr>
              <a:t>Verify every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Each cited path, finding and host is checked against ground truth; the rest is filtered.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237744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251460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0E9E7D"/>
                </a:solidFill>
                <a:latin typeface="Consolas"/>
              </a:rPr>
              <a:t>GUARDRAIL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8163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2029"/>
                </a:solidFill>
                <a:latin typeface="Georgia"/>
              </a:rPr>
              <a:t>Score in the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24612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A verification view scores engine and agents honestly — accuracy is measured, not asserted.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E1F3EE"/>
          </a:solidFill>
          <a:ln w="1270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6460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32029"/>
                </a:solidFill>
                <a:latin typeface="Georgia"/>
              </a:rPr>
              <a:t>AI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93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paths · findings · hosts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480560"/>
            <a:ext cx="23774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3C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6177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029"/>
                </a:solidFill>
                <a:latin typeface="Georgia"/>
              </a:rPr>
              <a:t>Verification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937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Does this match a real, computed fact?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5303520"/>
            <a:ext cx="2011680" cy="25603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0E8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303520"/>
            <a:ext cx="2011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0E8A62"/>
                </a:solidFill>
                <a:latin typeface="Calibri"/>
              </a:rPr>
              <a:t>✓ matches → keep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596128"/>
            <a:ext cx="2011680" cy="25603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CE3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5596128"/>
            <a:ext cx="2011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CE3E2B"/>
                </a:solidFill>
                <a:latin typeface="Calibri"/>
              </a:rPr>
              <a:t>✕ no match → drop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48056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3F3"/>
          </a:solidFill>
          <a:ln w="12700">
            <a:solidFill>
              <a:srgbClr val="0E8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5537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8A62"/>
                </a:solidFill>
                <a:latin typeface="Georgia"/>
              </a:rPr>
              <a:t>Reaches the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463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only verified claims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530352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3F3"/>
          </a:solidFill>
          <a:ln w="12700">
            <a:solidFill>
              <a:srgbClr val="CE3E2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3766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E3E2B"/>
                </a:solidFill>
                <a:latin typeface="Georgia"/>
              </a:rPr>
              <a:t>Filtered / flagged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66928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never shown as fact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651760" y="5138928"/>
            <a:ext cx="1536192" cy="0"/>
          </a:xfrm>
          <a:prstGeom prst="line">
            <a:avLst/>
          </a:prstGeom>
          <a:ln w="2286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583680" y="4800600"/>
            <a:ext cx="1627632" cy="182880"/>
          </a:xfrm>
          <a:prstGeom prst="line">
            <a:avLst/>
          </a:prstGeom>
          <a:ln w="22860">
            <a:solidFill>
              <a:srgbClr val="0E8A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83680" y="5486400"/>
            <a:ext cx="1627632" cy="137160"/>
          </a:xfrm>
          <a:prstGeom prst="line">
            <a:avLst/>
          </a:prstGeom>
          <a:ln w="22860">
            <a:solidFill>
              <a:srgbClr val="CE3E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AGENTIC VS. TRADITIONAL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Where an agentic system pulls decisively ahead.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Scored across the dimensions that decide whether a security tool actually reduces risk — not feature counts, but reasoning ability. (Illustrative / conceptual.)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Cross-machine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1389888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697480"/>
            <a:ext cx="6601968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Environment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81528"/>
            <a:ext cx="1737360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3264408"/>
            <a:ext cx="6254496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Prioritization beyond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648456"/>
            <a:ext cx="1042416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3831336"/>
            <a:ext cx="5907024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9709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Plain-language explanation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215384"/>
            <a:ext cx="694944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4398264"/>
            <a:ext cx="6601968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6402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Adapts to new inputs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782312"/>
            <a:ext cx="1389888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4965192"/>
            <a:ext cx="5559552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309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32029"/>
                </a:solidFill>
                <a:latin typeface="Calibri"/>
              </a:rPr>
              <a:t>Verifiable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5349240"/>
            <a:ext cx="2432304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06240" y="5532120"/>
            <a:ext cx="5907024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22219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7A888E"/>
                </a:solidFill>
                <a:latin typeface="Consolas"/>
              </a:rPr>
              <a:t>WEAK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221992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 spc="100">
                <a:solidFill>
                  <a:srgbClr val="7A888E"/>
                </a:solidFill>
                <a:latin typeface="Consolas"/>
              </a:rPr>
              <a:t>STRONG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943600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7A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8704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Traditional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5943600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8704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5B62"/>
                </a:solidFill>
                <a:latin typeface="Calibri"/>
              </a:rPr>
              <a:t>Agentic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ENGINEERING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No single AI vendor can take the platform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Calls route through one abstraction with an automatic failover chain, per-provider pacing, and retry-with-backoff — a rate limit or outage degrades gracefully instead of stopping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32029"/>
                </a:solidFill>
                <a:latin typeface="Georgia"/>
              </a:rPr>
              <a:t>Agent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55264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4C5B62"/>
                </a:solidFill>
                <a:latin typeface="Calibri"/>
              </a:rPr>
              <a:t>role-based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69748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E1F3EE"/>
          </a:solidFill>
          <a:ln w="1778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8163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029"/>
                </a:solidFill>
                <a:latin typeface="Georgia"/>
              </a:rPr>
              <a:t>Provider 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6382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pacing · retry · backoff</a:t>
            </a:r>
          </a:p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honors rate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>
            <a:solidFill>
              <a:srgbClr val="0E8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E8A62"/>
                </a:solidFill>
                <a:latin typeface="Calibri"/>
              </a:rPr>
              <a:t>Primary provider  ✓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486400" y="2478024"/>
            <a:ext cx="804672" cy="722376"/>
          </a:xfrm>
          <a:prstGeom prst="line">
            <a:avLst/>
          </a:prstGeom>
          <a:ln w="1778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278892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Fallback A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486400" y="2980944"/>
            <a:ext cx="804672" cy="219456"/>
          </a:xfrm>
          <a:prstGeom prst="line">
            <a:avLst/>
          </a:prstGeom>
          <a:ln w="1778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32918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Fallback 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3200400"/>
            <a:ext cx="804672" cy="283464"/>
          </a:xfrm>
          <a:prstGeom prst="line">
            <a:avLst/>
          </a:prstGeom>
          <a:ln w="1778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379476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7947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Fallback C 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0" y="3200400"/>
            <a:ext cx="804672" cy="786384"/>
          </a:xfrm>
          <a:prstGeom prst="line">
            <a:avLst/>
          </a:prstGeom>
          <a:ln w="1778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40" y="27432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0F3F3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8529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32029"/>
                </a:solidFill>
                <a:latin typeface="Georgia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1821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C5B62"/>
                </a:solidFill>
                <a:latin typeface="Calibri"/>
              </a:rPr>
              <a:t>from whichever provider responds first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60" y="2478024"/>
            <a:ext cx="621792" cy="676656"/>
          </a:xfrm>
          <a:prstGeom prst="line">
            <a:avLst/>
          </a:prstGeom>
          <a:ln w="20320">
            <a:solidFill>
              <a:srgbClr val="0E8A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4389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60">
                <a:solidFill>
                  <a:srgbClr val="7A888E"/>
                </a:solidFill>
                <a:latin typeface="Consolas"/>
              </a:rPr>
              <a:t>ON FAILURE OR RATE-LIMIT → FALL THROUGH TO THE NEXT PROVIDER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WHAT'S BUILT — AND WHAT IT'S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029"/>
                </a:solidFill>
                <a:latin typeface="Georgia"/>
              </a:rPr>
              <a:t>A working platform, delivered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4C5B62"/>
                </a:solidFill>
                <a:latin typeface="Calibri"/>
              </a:rPr>
              <a:t>Not a slide-deck concept. The deterministic engine, the seven-agent layer, the verification gate, and a full web platform are built and running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Hybrid analysis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815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Deterministic graph reasoning fused with a grounded AI agent layer — the intellectual core, 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3317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46888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71576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Seven-agent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0815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Specialized agents that hand off verified work, with a consistent executive synthesis on 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3317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46888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71576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Full web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0815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Command center, findings explorer, interactive attack graph, correlation, compliance, streaming analyst.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13632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0792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Verification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A held-out answer key scores both engine and agents — accuracy is measured, not claimed.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4256" y="3913632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50792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297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Resilient AI plumbing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663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Multi-provider failover, rate-limit pacing, retry-with-backoff — all tunable without code changes.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2" y="3913632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4050792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0E9E7D"/>
                </a:solidFill>
                <a:latin typeface="Consolas"/>
              </a:rPr>
              <a:t>DELIVERED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4297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29"/>
                </a:solidFill>
                <a:latin typeface="Georgia"/>
              </a:rPr>
              <a:t>Deployable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663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C5B62"/>
                </a:solidFill>
                <a:latin typeface="Calibri"/>
              </a:rPr>
              <a:t>Containerized, two-service architecture with a one-command dev runner — ready to stand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256032" cy="254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0E9E7D"/>
                </a:solidFill>
                <a:latin typeface="Consolas"/>
              </a:rPr>
              <a:t>VALUE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32029"/>
                </a:solidFill>
                <a:latin typeface="Georgia"/>
              </a:rPr>
              <a:t>From overwhelming data to a few real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E1F3EE"/>
          </a:solidFill>
          <a:ln w="1778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32029"/>
                </a:solidFill>
                <a:latin typeface="Georgia"/>
              </a:rPr>
              <a:t>From thousands of isolated findings to a ranked list of the real routes an attacker would take — and the single fix that severs the most of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7A61"/>
                </a:solidFill>
                <a:latin typeface="Georgia"/>
              </a:rPr>
              <a:t>Business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575304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Fewer, better decisions.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Attention goes to routes to crown jewels, not a scoreboard of noise.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050792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9592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Effort that pays off.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The choke-point view shows where one fix collapses many paths.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4526280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7141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Audit-ready.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Risk is expressed in compliance terms, mapped to real findings.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001768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469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Answers on demand.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A grounded analyst responds instantly, citing real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8036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7A61"/>
                </a:solidFill>
                <a:latin typeface="Georgia"/>
              </a:rPr>
              <a:t>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8232" y="3575304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Production hardening.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Durable storage, background job workers, single sign-on.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8232" y="4050792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99592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Centralized AI gateway.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One governed entry point for every model 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8232" y="4526280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47141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Continuous re-scans.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Scheduled runs so the attack picture stays current.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8232" y="5001768"/>
            <a:ext cx="82296" cy="82296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9469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32029"/>
                </a:solidFill>
                <a:latin typeface="Calibri"/>
              </a:rPr>
              <a:t>More connectors. </a:t>
            </a:r>
            <a:r>
              <a:rPr sz="1150" b="0" i="0">
                <a:solidFill>
                  <a:srgbClr val="4C5B62"/>
                </a:solidFill>
                <a:latin typeface="Calibri"/>
              </a:rPr>
              <a:t>Broaden the data the agents can reason 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740664" y="795528"/>
            <a:ext cx="256032" cy="228600"/>
          </a:xfrm>
          <a:prstGeom prst="triangl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713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29"/>
                </a:solidFill>
                <a:latin typeface="Georgia"/>
              </a:rPr>
              <a:t>Agentic VOC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32029"/>
                </a:solidFill>
                <a:latin typeface="Georgia"/>
              </a:rPr>
              <a:t>Attackers think in chains.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32029"/>
                </a:solidFill>
                <a:latin typeface="Georgia"/>
              </a:rPr>
              <a:t>Now the defense does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An agentic system isn't a smarter chatbot bolted onto a dashboard. It's a coordinated team of specialists, grounded in a verified map of your environment, kept honest by a verification gate — turning overwhelming data into a small number of decisions that actually reduce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1F3EE"/>
          </a:solidFill>
          <a:ln w="1778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1">
                <a:solidFill>
                  <a:srgbClr val="132029"/>
                </a:solidFill>
                <a:latin typeface="Georgia"/>
              </a:rPr>
              <a:t>Autonomy where it's safe. Human judgment where it matters. Verified, every step of the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7A888E"/>
                </a:solidFill>
                <a:latin typeface="Consolas"/>
              </a:rPr>
              <a:t>AGENTIC VOC — EXECUTIVE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A888E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