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225735" y="320040"/>
            <a:ext cx="1600200" cy="640080"/>
          </a:xfrm>
          <a:prstGeom prst="rect">
            <a:avLst/>
          </a:prstGeom>
          <a:noFill/>
          <a:ln w="12700">
            <a:solidFill>
              <a:srgbClr val="88A68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900" b="0" i="0" spc="150">
                <a:solidFill>
                  <a:srgbClr val="88A682"/>
                </a:solidFill>
                <a:latin typeface="Lato Light"/>
              </a:rPr>
              <a:t>ENTERPRISE LOGO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 spc="300">
                <a:solidFill>
                  <a:srgbClr val="55A185"/>
                </a:solidFill>
                <a:latin typeface="Lato SemiBold"/>
              </a:rPr>
              <a:t>WHY 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886968"/>
            <a:ext cx="502920" cy="31750"/>
          </a:xfrm>
          <a:prstGeom prst="rect">
            <a:avLst/>
          </a:prstGeom>
          <a:solidFill>
            <a:srgbClr val="55A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0" i="0" spc="150">
                <a:solidFill>
                  <a:srgbClr val="272529"/>
                </a:solidFill>
                <a:latin typeface="Lato Light"/>
              </a:rPr>
              <a:t>CYBER ATTACKS HAVE BECOME </a:t>
            </a:r>
            <a:r>
              <a:rPr sz="3400" b="0" i="1">
                <a:solidFill>
                  <a:srgbClr val="003C30"/>
                </a:solidFill>
                <a:latin typeface="Libre Baskerville"/>
              </a:rPr>
              <a:t>intelligent</a:t>
            </a:r>
            <a:r>
              <a:rPr sz="3400" b="0" i="0" spc="150">
                <a:solidFill>
                  <a:srgbClr val="272529"/>
                </a:solidFill>
                <a:latin typeface="Lato Light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272529"/>
                </a:solidFill>
                <a:latin typeface="Lato Light"/>
              </a:rPr>
              <a:t>AI has changed both sides of cybersecurity — and it is moving faster than any human team can.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77440"/>
            <a:ext cx="5166360" cy="2331720"/>
          </a:xfrm>
          <a:prstGeom prst="roundRect">
            <a:avLst>
              <a:gd name="adj" fmla="val 5500"/>
            </a:avLst>
          </a:prstGeom>
          <a:solidFill>
            <a:srgbClr val="FFFCFA"/>
          </a:solidFill>
          <a:ln w="9525">
            <a:solidFill>
              <a:srgbClr val="88A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274320" bIns="54864" wrap="square"/>
          <a:lstStyle/>
          <a:p>
            <a:pPr algn="ctr"/>
            <a:r>
              <a:rPr sz="4400" b="0" i="1">
                <a:solidFill>
                  <a:srgbClr val="55A185"/>
                </a:solidFill>
                <a:latin typeface="Libre Baskerville"/>
              </a:rPr>
              <a:t>100s</a:t>
            </a:r>
          </a:p>
          <a:p>
            <a:pPr>
              <a:spcBef>
                <a:spcPts val="600"/>
              </a:spcBef>
            </a:pPr>
            <a:r>
              <a:rPr sz="1400" b="0" i="0" spc="100">
                <a:solidFill>
                  <a:srgbClr val="003C30"/>
                </a:solidFill>
                <a:latin typeface="Lato SemiBold"/>
              </a:rPr>
              <a:t>OF CRITICAL VULNERABILITIES FOUND BY ONE AI MODEL</a:t>
            </a:r>
          </a:p>
          <a:p>
            <a:pPr>
              <a:spcBef>
                <a:spcPts val="1000"/>
              </a:spcBef>
            </a:pPr>
            <a:r>
              <a:rPr sz="1300" b="0" i="0">
                <a:solidFill>
                  <a:srgbClr val="272529"/>
                </a:solidFill>
                <a:latin typeface="Lato Light"/>
              </a:rPr>
              <a:t>Anthropic's latest AI model (Mythos) uncovered hundreds of critical security flaws — weaknesses that expert human teams had not seen. What AI can find for defenders, it can also find for attackers.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377440"/>
            <a:ext cx="5166360" cy="2331720"/>
          </a:xfrm>
          <a:prstGeom prst="roundRect">
            <a:avLst>
              <a:gd name="adj" fmla="val 5500"/>
            </a:avLst>
          </a:prstGeom>
          <a:solidFill>
            <a:srgbClr val="FFFCFA"/>
          </a:solidFill>
          <a:ln w="9525">
            <a:solidFill>
              <a:srgbClr val="88A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274320" bIns="54864" wrap="square"/>
          <a:lstStyle/>
          <a:p>
            <a:pPr algn="ctr"/>
            <a:r>
              <a:rPr sz="4400" b="0" i="1">
                <a:solidFill>
                  <a:srgbClr val="55A185"/>
                </a:solidFill>
                <a:latin typeface="Libre Baskerville"/>
              </a:rPr>
              <a:t>24/7</a:t>
            </a:r>
          </a:p>
          <a:p>
            <a:pPr>
              <a:spcBef>
                <a:spcPts val="600"/>
              </a:spcBef>
            </a:pPr>
            <a:r>
              <a:rPr sz="1400" b="0" i="0" spc="100">
                <a:solidFill>
                  <a:srgbClr val="003C30"/>
                </a:solidFill>
                <a:latin typeface="Lato SemiBold"/>
              </a:rPr>
              <a:t>ATTACKERS ALREADY USE AI AGAINST US</a:t>
            </a:r>
          </a:p>
          <a:p>
            <a:pPr>
              <a:spcBef>
                <a:spcPts val="1000"/>
              </a:spcBef>
            </a:pPr>
            <a:r>
              <a:rPr sz="1300" b="0" i="0">
                <a:solidFill>
                  <a:srgbClr val="272529"/>
                </a:solidFill>
                <a:latin typeface="Lato Light"/>
              </a:rPr>
              <a:t>Threat actors now use AI to scan, plan and launch attacks around the clock, at machine speed. The window between a weakness appearing and it being exploited keeps shrinking.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074920"/>
            <a:ext cx="10789920" cy="1051560"/>
          </a:xfrm>
          <a:prstGeom prst="roundRect">
            <a:avLst>
              <a:gd name="adj" fmla="val 12000"/>
            </a:avLst>
          </a:prstGeom>
          <a:solidFill>
            <a:srgbClr val="003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rIns="411480" tIns="54864" bIns="54864" wrap="square"/>
          <a:lstStyle/>
          <a:p>
            <a:pPr algn="ctr"/>
            <a:r>
              <a:rPr sz="1600" b="0" i="0" spc="100">
                <a:solidFill>
                  <a:srgbClr val="FFFFFF"/>
                </a:solidFill>
                <a:latin typeface="Lato SemiBold"/>
              </a:rPr>
              <a:t>MACHINE-SPEED ATTACKS CANNOT BE STOPPED AT HUMAN SPEED.</a:t>
            </a:r>
          </a:p>
          <a:p>
            <a:pPr algn="ctr">
              <a:spcBef>
                <a:spcPts val="400"/>
              </a:spcBef>
            </a:pPr>
            <a:r>
              <a:rPr sz="1400" b="0" i="0">
                <a:solidFill>
                  <a:srgbClr val="BFDFD2"/>
                </a:solidFill>
                <a:latin typeface="Lato Light"/>
              </a:rPr>
              <a:t>The only credible defense against offensive AI is defensive AI — working on our side.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008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 spc="200">
                <a:solidFill>
                  <a:srgbClr val="88A682"/>
                </a:solidFill>
                <a:latin typeface="Lato Light"/>
              </a:rPr>
              <a:t>CONFIDENTIAL — EXECUTIVE BRIEFING</a:t>
            </a:r>
            <a:r>
              <a:rPr sz="850">
                <a:solidFill>
                  <a:srgbClr val="88A682"/>
                </a:solidFill>
                <a:latin typeface="Lato Light"/>
              </a:rPr>
              <a:t>   ·   </a:t>
            </a:r>
            <a:r>
              <a:rPr sz="850" b="0" i="0" spc="200">
                <a:solidFill>
                  <a:srgbClr val="88A682"/>
                </a:solidFill>
                <a:latin typeface="Lato Light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225735" y="320040"/>
            <a:ext cx="1600200" cy="640080"/>
          </a:xfrm>
          <a:prstGeom prst="rect">
            <a:avLst/>
          </a:prstGeom>
          <a:noFill/>
          <a:ln w="12700">
            <a:solidFill>
              <a:srgbClr val="88A68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900" b="0" i="0" spc="150">
                <a:solidFill>
                  <a:srgbClr val="88A682"/>
                </a:solidFill>
                <a:latin typeface="Lato Light"/>
              </a:rPr>
              <a:t>ENTERPRISE LOGO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 spc="300">
                <a:solidFill>
                  <a:srgbClr val="55A185"/>
                </a:solidFill>
                <a:latin typeface="Lato SemiBold"/>
              </a:rPr>
              <a:t>OUR PROPOSAL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886968"/>
            <a:ext cx="502920" cy="31750"/>
          </a:xfrm>
          <a:prstGeom prst="rect">
            <a:avLst/>
          </a:prstGeom>
          <a:solidFill>
            <a:srgbClr val="55A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0" i="0" spc="150">
                <a:solidFill>
                  <a:srgbClr val="272529"/>
                </a:solidFill>
                <a:latin typeface="Lato Light"/>
              </a:rPr>
              <a:t>A DIGITAL TEAM OF </a:t>
            </a:r>
            <a:r>
              <a:rPr sz="3200" b="0" i="1">
                <a:solidFill>
                  <a:srgbClr val="003C30"/>
                </a:solidFill>
                <a:latin typeface="Libre Baskerville"/>
              </a:rPr>
              <a:t>ai analysts</a:t>
            </a:r>
            <a:r>
              <a:rPr sz="3200" b="0" i="0" spc="150">
                <a:solidFill>
                  <a:srgbClr val="272529"/>
                </a:solidFill>
                <a:latin typeface="Lato Light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0" i="0">
                <a:solidFill>
                  <a:srgbClr val="272529"/>
                </a:solidFill>
                <a:latin typeface="Lato Light"/>
              </a:rPr>
              <a:t>Specialist AI agents and an assistant chatbot plug into the security tools we already own — nothing is replaced. They watch everything, all the time, and surface only what matters to each audience: analysts, operators and management.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514600"/>
            <a:ext cx="2542032" cy="2286000"/>
          </a:xfrm>
          <a:prstGeom prst="roundRect">
            <a:avLst>
              <a:gd name="adj" fmla="val 7000"/>
            </a:avLst>
          </a:prstGeom>
          <a:solidFill>
            <a:srgbClr val="FFFCFA"/>
          </a:solidFill>
          <a:ln w="9525">
            <a:solidFill>
              <a:srgbClr val="88A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56032" rIns="256032" tIns="502920" bIns="54864" wrap="square">
            <a:noAutofit/>
          </a:bodyPr>
          <a:lstStyle/>
          <a:p>
            <a:pPr algn="ctr"/>
            <a:r>
              <a:rPr sz="1500" b="0" i="0" spc="200">
                <a:solidFill>
                  <a:srgbClr val="003C30"/>
                </a:solidFill>
                <a:latin typeface="Lato SemiBold"/>
              </a:rPr>
              <a:t>PREDICT</a:t>
            </a:r>
          </a:p>
          <a:p>
            <a:pPr>
              <a:spcBef>
                <a:spcPts val="800"/>
              </a:spcBef>
            </a:pPr>
            <a:r>
              <a:rPr sz="1200" b="0" i="0">
                <a:solidFill>
                  <a:srgbClr val="272529"/>
                </a:solidFill>
                <a:latin typeface="Lato Light"/>
              </a:rPr>
              <a:t>Spot the paths an attacker would take — and close them before the attack happens.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2807208"/>
            <a:ext cx="384048" cy="38100"/>
          </a:xfrm>
          <a:prstGeom prst="rect">
            <a:avLst/>
          </a:prstGeom>
          <a:solidFill>
            <a:srgbClr val="55A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29000" y="2514600"/>
            <a:ext cx="2542032" cy="2286000"/>
          </a:xfrm>
          <a:prstGeom prst="roundRect">
            <a:avLst>
              <a:gd name="adj" fmla="val 7000"/>
            </a:avLst>
          </a:prstGeom>
          <a:solidFill>
            <a:srgbClr val="FFFCFA"/>
          </a:solidFill>
          <a:ln w="9525">
            <a:solidFill>
              <a:srgbClr val="88A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56032" rIns="256032" tIns="502920" bIns="54864" wrap="square">
            <a:noAutofit/>
          </a:bodyPr>
          <a:lstStyle/>
          <a:p>
            <a:pPr algn="ctr"/>
            <a:r>
              <a:rPr sz="1500" b="0" i="0" spc="200">
                <a:solidFill>
                  <a:srgbClr val="003C30"/>
                </a:solidFill>
                <a:latin typeface="Lato SemiBold"/>
              </a:rPr>
              <a:t>PRIORITIZE</a:t>
            </a:r>
          </a:p>
          <a:p>
            <a:pPr>
              <a:spcBef>
                <a:spcPts val="800"/>
              </a:spcBef>
            </a:pPr>
            <a:r>
              <a:rPr sz="1200" b="0" i="0">
                <a:solidFill>
                  <a:srgbClr val="272529"/>
                </a:solidFill>
                <a:latin typeface="Lato Light"/>
              </a:rPr>
              <a:t>Cut through thousands of alerts. Each team sees only what matters most to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3320" y="2807208"/>
            <a:ext cx="384048" cy="38100"/>
          </a:xfrm>
          <a:prstGeom prst="rect">
            <a:avLst/>
          </a:prstGeom>
          <a:solidFill>
            <a:srgbClr val="55A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2514600"/>
            <a:ext cx="2542032" cy="2286000"/>
          </a:xfrm>
          <a:prstGeom prst="roundRect">
            <a:avLst>
              <a:gd name="adj" fmla="val 7000"/>
            </a:avLst>
          </a:prstGeom>
          <a:solidFill>
            <a:srgbClr val="FFFCFA"/>
          </a:solidFill>
          <a:ln w="9525">
            <a:solidFill>
              <a:srgbClr val="88A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56032" rIns="256032" tIns="502920" bIns="54864" wrap="square">
            <a:noAutofit/>
          </a:bodyPr>
          <a:lstStyle/>
          <a:p>
            <a:pPr algn="ctr"/>
            <a:r>
              <a:rPr sz="1500" b="0" i="0" spc="200">
                <a:solidFill>
                  <a:srgbClr val="003C30"/>
                </a:solidFill>
                <a:latin typeface="Lato SemiBold"/>
              </a:rPr>
              <a:t>COMPLY</a:t>
            </a:r>
          </a:p>
          <a:p>
            <a:pPr>
              <a:spcBef>
                <a:spcPts val="800"/>
              </a:spcBef>
            </a:pPr>
            <a:r>
              <a:rPr sz="1200" b="0" i="0">
                <a:solidFill>
                  <a:srgbClr val="272529"/>
                </a:solidFill>
                <a:latin typeface="Lato Light"/>
              </a:rPr>
              <a:t>Track compliance, risk and trends continuously — always ready for the next audit or board question.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2807208"/>
            <a:ext cx="384048" cy="38100"/>
          </a:xfrm>
          <a:prstGeom prst="rect">
            <a:avLst/>
          </a:prstGeom>
          <a:solidFill>
            <a:srgbClr val="55A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15400" y="2514600"/>
            <a:ext cx="2542032" cy="2286000"/>
          </a:xfrm>
          <a:prstGeom prst="roundRect">
            <a:avLst>
              <a:gd name="adj" fmla="val 7000"/>
            </a:avLst>
          </a:prstGeom>
          <a:solidFill>
            <a:srgbClr val="FFFCFA"/>
          </a:solidFill>
          <a:ln w="9525">
            <a:solidFill>
              <a:srgbClr val="88A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56032" rIns="256032" tIns="502920" bIns="54864" wrap="square">
            <a:noAutofit/>
          </a:bodyPr>
          <a:lstStyle/>
          <a:p>
            <a:pPr algn="ctr"/>
            <a:r>
              <a:rPr sz="1500" b="0" i="0" spc="200">
                <a:solidFill>
                  <a:srgbClr val="003C30"/>
                </a:solidFill>
                <a:latin typeface="Lato SemiBold"/>
              </a:rPr>
              <a:t>IMPROVE</a:t>
            </a:r>
          </a:p>
          <a:p>
            <a:pPr>
              <a:spcBef>
                <a:spcPts val="800"/>
              </a:spcBef>
            </a:pPr>
            <a:r>
              <a:rPr sz="1200" b="0" i="0">
                <a:solidFill>
                  <a:srgbClr val="272529"/>
                </a:solidFill>
                <a:latin typeface="Lato Light"/>
              </a:rPr>
              <a:t>Routine analysis handled by AI frees our experts for continuous improvement, not firefighting.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89720" y="2807208"/>
            <a:ext cx="384048" cy="38100"/>
          </a:xfrm>
          <a:prstGeom prst="rect">
            <a:avLst/>
          </a:prstGeom>
          <a:solidFill>
            <a:srgbClr val="55A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" y="5166360"/>
            <a:ext cx="10789920" cy="960120"/>
          </a:xfrm>
          <a:prstGeom prst="roundRect">
            <a:avLst>
              <a:gd name="adj" fmla="val 13000"/>
            </a:avLst>
          </a:prstGeom>
          <a:solidFill>
            <a:srgbClr val="003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rIns="411480" tIns="54864" bIns="54864" wrap="square"/>
          <a:lstStyle/>
          <a:p>
            <a:pPr algn="ctr"/>
            <a:r>
              <a:rPr sz="1700" b="0" i="0" spc="150">
                <a:solidFill>
                  <a:srgbClr val="FFFFFF"/>
                </a:solidFill>
                <a:latin typeface="Lato SemiBold"/>
              </a:rPr>
              <a:t>FROM REACTING TO INCIDENTS  —  TO PREVENTING THEM.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008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 spc="200">
                <a:solidFill>
                  <a:srgbClr val="88A682"/>
                </a:solidFill>
                <a:latin typeface="Lato Light"/>
              </a:rPr>
              <a:t>CONFIDENTIAL — EXECUTIVE BRIEFING</a:t>
            </a:r>
            <a:r>
              <a:rPr sz="850">
                <a:solidFill>
                  <a:srgbClr val="88A682"/>
                </a:solidFill>
                <a:latin typeface="Lato Light"/>
              </a:rPr>
              <a:t>   ·   </a:t>
            </a:r>
            <a:r>
              <a:rPr sz="850" b="0" i="0" spc="200">
                <a:solidFill>
                  <a:srgbClr val="88A682"/>
                </a:solidFill>
                <a:latin typeface="Lato Light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225735" y="320040"/>
            <a:ext cx="1600200" cy="640080"/>
          </a:xfrm>
          <a:prstGeom prst="rect">
            <a:avLst/>
          </a:prstGeom>
          <a:noFill/>
          <a:ln w="12700">
            <a:solidFill>
              <a:srgbClr val="88A68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900" b="0" i="0" spc="150">
                <a:solidFill>
                  <a:srgbClr val="88A682"/>
                </a:solidFill>
                <a:latin typeface="Lato Light"/>
              </a:rPr>
              <a:t>ENTERPRISE LOGO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365760"/>
            <a:ext cx="1463040" cy="594360"/>
          </a:xfrm>
          <a:prstGeom prst="rect">
            <a:avLst/>
          </a:prstGeom>
          <a:noFill/>
          <a:ln w="12700">
            <a:solidFill>
              <a:srgbClr val="55A1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900" b="0" i="0" spc="150">
                <a:solidFill>
                  <a:srgbClr val="55A185"/>
                </a:solidFill>
                <a:latin typeface="Lato Light"/>
              </a:rPr>
              <a:t>GHRAB 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502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 spc="300">
                <a:solidFill>
                  <a:srgbClr val="55A185"/>
                </a:solidFill>
                <a:latin typeface="Lato SemiBold"/>
              </a:rPr>
              <a:t>PROOF OF CONCEPT — GHRAB VOC</a:t>
            </a:r>
          </a:p>
        </p:txBody>
      </p:sp>
      <p:sp>
        <p:nvSpPr>
          <p:cNvPr id="5" name="Rectangle 4"/>
          <p:cNvSpPr/>
          <p:nvPr/>
        </p:nvSpPr>
        <p:spPr>
          <a:xfrm>
            <a:off x="2377440" y="886968"/>
            <a:ext cx="502920" cy="31750"/>
          </a:xfrm>
          <a:prstGeom prst="rect">
            <a:avLst/>
          </a:prstGeom>
          <a:solidFill>
            <a:srgbClr val="55A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09728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0" i="0" spc="150">
                <a:solidFill>
                  <a:srgbClr val="272529"/>
                </a:solidFill>
                <a:latin typeface="Lato Light"/>
              </a:rPr>
              <a:t>THIS IS NOT THEORY — IT IS </a:t>
            </a:r>
            <a:r>
              <a:rPr sz="2800" b="0" i="1">
                <a:solidFill>
                  <a:srgbClr val="003C30"/>
                </a:solidFill>
                <a:latin typeface="Libre Baskerville"/>
              </a:rPr>
              <a:t>already working</a:t>
            </a:r>
            <a:r>
              <a:rPr sz="2800" b="0" i="0" spc="150">
                <a:solidFill>
                  <a:srgbClr val="272529"/>
                </a:solidFill>
                <a:latin typeface="Lato Light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0" i="0">
                <a:solidFill>
                  <a:srgbClr val="272529"/>
                </a:solidFill>
                <a:latin typeface="Lato Light"/>
              </a:rPr>
              <a:t>Our proof of concept already detects attack chains on real infrastructure data — then proposes the fix and verifies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240280"/>
            <a:ext cx="566928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88A68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000" b="0" i="0" spc="150">
                <a:solidFill>
                  <a:srgbClr val="88A682"/>
                </a:solidFill>
                <a:latin typeface="Lato Light"/>
              </a:rPr>
              <a:t>[ PLACE SCREENSHOT — DETECTED ATTACK PATH GRAPH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230368"/>
            <a:ext cx="56692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0" spc="150">
                <a:solidFill>
                  <a:srgbClr val="003C30"/>
                </a:solidFill>
                <a:latin typeface="Lato SemiBold"/>
              </a:rPr>
              <a:t>1 · DETECTS ATTACK CHAINS</a:t>
            </a:r>
          </a:p>
          <a:p>
            <a:pPr>
              <a:spcBef>
                <a:spcPts val="300"/>
              </a:spcBef>
            </a:pPr>
            <a:r>
              <a:rPr sz="1050" b="0" i="0">
                <a:solidFill>
                  <a:srgbClr val="272529"/>
                </a:solidFill>
                <a:latin typeface="Lato Light"/>
              </a:rPr>
              <a:t>Maps, step by step, how an attacker could move through our systems — before anyone attacks.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9400" y="2240280"/>
            <a:ext cx="48463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88A68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000" b="0" i="0" spc="150">
                <a:solidFill>
                  <a:srgbClr val="88A682"/>
                </a:solidFill>
                <a:latin typeface="Lato Light"/>
              </a:rPr>
              <a:t>[ PLACE SCREENSHOT — REMEDIATION PLAN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520440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0" spc="150">
                <a:solidFill>
                  <a:srgbClr val="003C30"/>
                </a:solidFill>
                <a:latin typeface="Lato SemiBold"/>
              </a:rPr>
              <a:t>2 · PROPOSES THE FIX</a:t>
            </a:r>
          </a:p>
          <a:p>
            <a:pPr>
              <a:spcBef>
                <a:spcPts val="300"/>
              </a:spcBef>
            </a:pPr>
            <a:r>
              <a:rPr sz="1050" b="0" i="0">
                <a:solidFill>
                  <a:srgbClr val="272529"/>
                </a:solidFill>
                <a:latin typeface="Lato Light"/>
              </a:rPr>
              <a:t>A clear remediation plan, ranked by business impact.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9400" y="4434840"/>
            <a:ext cx="48463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88A68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  <a:r>
              <a:rPr sz="1000" b="0" i="0" spc="150">
                <a:solidFill>
                  <a:srgbClr val="88A682"/>
                </a:solidFill>
                <a:latin typeface="Lato Light"/>
              </a:rPr>
              <a:t>[ PLACE SCREENSHOT — VALIDATION PLAN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5715000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0" spc="150">
                <a:solidFill>
                  <a:srgbClr val="003C30"/>
                </a:solidFill>
                <a:latin typeface="Lato SemiBold"/>
              </a:rPr>
              <a:t>3 · VERIFIES IT IS CLOSED</a:t>
            </a:r>
          </a:p>
          <a:p>
            <a:pPr>
              <a:spcBef>
                <a:spcPts val="300"/>
              </a:spcBef>
            </a:pPr>
            <a:r>
              <a:rPr sz="1050" b="0" i="0">
                <a:solidFill>
                  <a:srgbClr val="272529"/>
                </a:solidFill>
                <a:latin typeface="Lato Light"/>
              </a:rPr>
              <a:t>A validation plan confirms each attack path is truly eliminated.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008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 spc="200">
                <a:solidFill>
                  <a:srgbClr val="88A682"/>
                </a:solidFill>
                <a:latin typeface="Lato Light"/>
              </a:rPr>
              <a:t>CONFIDENTIAL — EXECUTIVE BRIEFING</a:t>
            </a:r>
            <a:r>
              <a:rPr sz="850">
                <a:solidFill>
                  <a:srgbClr val="88A682"/>
                </a:solidFill>
                <a:latin typeface="Lato Light"/>
              </a:rPr>
              <a:t>   ·   </a:t>
            </a:r>
            <a:r>
              <a:rPr sz="850" b="0" i="0" spc="200">
                <a:solidFill>
                  <a:srgbClr val="88A682"/>
                </a:solidFill>
                <a:latin typeface="Lato Light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